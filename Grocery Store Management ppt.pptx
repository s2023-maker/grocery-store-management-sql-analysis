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32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24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>
      <p:cViewPr varScale="1">
        <p:scale>
          <a:sx n="81" d="100"/>
          <a:sy n="81" d="100"/>
        </p:scale>
        <p:origin x="98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8DBD8-61B9-4BC1-83AA-1A583E32A8D6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C095F-EAEB-4AE8-BBC1-0B5181D16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4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4172" y="257358"/>
            <a:ext cx="8084820" cy="836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3175" y="6283803"/>
            <a:ext cx="2949299" cy="4465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5747" y="206755"/>
            <a:ext cx="11059160" cy="1146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2192" y="1829705"/>
            <a:ext cx="10255885" cy="406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rshini-Boddu151" TargetMode="External"/><Relationship Id="rId7" Type="http://schemas.openxmlformats.org/officeDocument/2006/relationships/hyperlink" Target="https://github.com/S2023-maker" TargetMode="External"/><Relationship Id="rId2" Type="http://schemas.openxmlformats.org/officeDocument/2006/relationships/hyperlink" Target="https://www.linkedin.com/in/varshini-boddu-1b8913264?utm_source=share&amp;utm_campaign=share_via&amp;utm_content=profile&amp;utm_medium=android_ap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shreya-joshi-b84376350/" TargetMode="External"/><Relationship Id="rId5" Type="http://schemas.openxmlformats.org/officeDocument/2006/relationships/hyperlink" Target="https://github.com/kalakotaramyasree" TargetMode="External"/><Relationship Id="rId4" Type="http://schemas.openxmlformats.org/officeDocument/2006/relationships/hyperlink" Target="https://www.linkedin.com/public-profile/setting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2484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41295" y="3240468"/>
            <a:ext cx="83553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0000"/>
                </a:solidFill>
              </a:rPr>
              <a:t>GROCERY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STORE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85" dirty="0">
                <a:solidFill>
                  <a:srgbClr val="000000"/>
                </a:solidFill>
              </a:rPr>
              <a:t>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3E231-FF81-3647-9F69-258723B0412F}"/>
              </a:ext>
            </a:extLst>
          </p:cNvPr>
          <p:cNvSpPr txBox="1"/>
          <p:nvPr/>
        </p:nvSpPr>
        <p:spPr>
          <a:xfrm>
            <a:off x="304800" y="5181600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IN" dirty="0"/>
              <a:t>Shreya Joshi</a:t>
            </a:r>
          </a:p>
          <a:p>
            <a:r>
              <a:rPr lang="en-IN" dirty="0"/>
              <a:t>Boddu Varshini </a:t>
            </a:r>
          </a:p>
          <a:p>
            <a:r>
              <a:rPr lang="en-IN" dirty="0" err="1"/>
              <a:t>Kalakota</a:t>
            </a:r>
            <a:r>
              <a:rPr lang="en-IN" dirty="0"/>
              <a:t> </a:t>
            </a:r>
            <a:r>
              <a:rPr lang="en-IN" dirty="0" err="1"/>
              <a:t>Ramyasree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582" y="941006"/>
            <a:ext cx="10758805" cy="5178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10" dirty="0">
                <a:latin typeface="Times New Roman"/>
                <a:cs typeface="Times New Roman"/>
              </a:rPr>
              <a:t>     1. Name : </a:t>
            </a:r>
            <a:r>
              <a:rPr lang="en-IN" dirty="0"/>
              <a:t>Boddu Varshini </a:t>
            </a: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Background : </a:t>
            </a:r>
            <a:r>
              <a:rPr lang="en-US" spc="-10" dirty="0" err="1">
                <a:latin typeface="Times New Roman"/>
                <a:cs typeface="Times New Roman"/>
              </a:rPr>
              <a:t>Btech</a:t>
            </a:r>
            <a:r>
              <a:rPr lang="en-US" spc="-10" dirty="0">
                <a:latin typeface="Times New Roman"/>
                <a:cs typeface="Times New Roman"/>
              </a:rPr>
              <a:t> (Computer Science)</a:t>
            </a: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Linked in: </a:t>
            </a:r>
            <a:r>
              <a:rPr lang="en-US" spc="-10" dirty="0">
                <a:latin typeface="Times New Roman"/>
                <a:cs typeface="Times New Roman"/>
                <a:hlinkClick r:id="rId2"/>
              </a:rPr>
              <a:t>https://www.linkedin.com/in/varshini-boddu-1b8913264?utm_source=share&amp;utm_campaign=share_via&amp;utm_content=profile&amp;utm_medium=android_app</a:t>
            </a: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GitHub : </a:t>
            </a:r>
            <a:r>
              <a:rPr lang="en-US" spc="-10" dirty="0">
                <a:latin typeface="Times New Roman"/>
                <a:cs typeface="Times New Roman"/>
                <a:hlinkClick r:id="rId3"/>
              </a:rPr>
              <a:t>https://github.com/Varshini-Boddu151</a:t>
            </a: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endParaRPr lang="en-US" spc="-10" dirty="0">
              <a:latin typeface="Times New Roman"/>
              <a:cs typeface="Times New Roman"/>
            </a:endParaRPr>
          </a:p>
          <a:p>
            <a:r>
              <a:rPr lang="en-US" spc="-10" dirty="0">
                <a:latin typeface="Times New Roman"/>
                <a:cs typeface="Times New Roman"/>
              </a:rPr>
              <a:t>     2. Name : </a:t>
            </a:r>
            <a:r>
              <a:rPr lang="en-IN" dirty="0" err="1"/>
              <a:t>Kalakota</a:t>
            </a:r>
            <a:r>
              <a:rPr lang="en-IN" dirty="0"/>
              <a:t> </a:t>
            </a:r>
            <a:r>
              <a:rPr lang="en-IN" dirty="0" err="1"/>
              <a:t>Ramyasree</a:t>
            </a:r>
            <a:endParaRPr lang="en-IN" dirty="0"/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Background : </a:t>
            </a:r>
            <a:r>
              <a:rPr lang="en-US" spc="-10" dirty="0" err="1">
                <a:latin typeface="Times New Roman"/>
                <a:cs typeface="Times New Roman"/>
              </a:rPr>
              <a:t>Btech</a:t>
            </a:r>
            <a:r>
              <a:rPr lang="en-US" spc="-10" dirty="0">
                <a:latin typeface="Times New Roman"/>
                <a:cs typeface="Times New Roman"/>
              </a:rPr>
              <a:t> (ECE)</a:t>
            </a: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Linked in: </a:t>
            </a:r>
            <a:r>
              <a:rPr lang="en-US" spc="-10" dirty="0">
                <a:latin typeface="Times New Roman"/>
                <a:cs typeface="Times New Roman"/>
                <a:hlinkClick r:id="rId4"/>
              </a:rPr>
              <a:t>https://www.linkedin.com/public-profile/settings</a:t>
            </a: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GitHub : </a:t>
            </a:r>
            <a:r>
              <a:rPr lang="en-US" spc="-10" dirty="0">
                <a:latin typeface="Times New Roman"/>
                <a:cs typeface="Times New Roman"/>
                <a:hlinkClick r:id="rId5"/>
              </a:rPr>
              <a:t>https://github.com/kalakotaramyasree</a:t>
            </a: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3. Name : Shreya Joshi</a:t>
            </a: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Background : </a:t>
            </a:r>
            <a:r>
              <a:rPr lang="en-US" spc="-10" dirty="0" err="1">
                <a:latin typeface="Times New Roman"/>
                <a:cs typeface="Times New Roman"/>
              </a:rPr>
              <a:t>Btech</a:t>
            </a:r>
            <a:r>
              <a:rPr lang="en-US" spc="-10" dirty="0">
                <a:latin typeface="Times New Roman"/>
                <a:cs typeface="Times New Roman"/>
              </a:rPr>
              <a:t> (Agricultural Engineering)</a:t>
            </a: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Linked in: </a:t>
            </a:r>
            <a:r>
              <a:rPr lang="en-US" spc="-10" dirty="0">
                <a:latin typeface="Times New Roman"/>
                <a:cs typeface="Times New Roman"/>
                <a:hlinkClick r:id="rId6"/>
              </a:rPr>
              <a:t>https://www.linkedin.com/in/shreya-joshi-b84376350/</a:t>
            </a: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r>
              <a:rPr lang="en-US" spc="-10" dirty="0">
                <a:latin typeface="Times New Roman"/>
                <a:cs typeface="Times New Roman"/>
              </a:rPr>
              <a:t>GitHub : </a:t>
            </a:r>
            <a:r>
              <a:rPr lang="en-US" spc="-10" dirty="0">
                <a:latin typeface="Times New Roman"/>
                <a:cs typeface="Times New Roman"/>
                <a:hlinkClick r:id="rId7"/>
              </a:rPr>
              <a:t>https://github.com/S2023-maker</a:t>
            </a: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endParaRPr lang="en-US" spc="-10" dirty="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75"/>
              </a:spcBef>
            </a:pPr>
            <a:endParaRPr lang="en-US" spc="-1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99101" y="119697"/>
            <a:ext cx="220027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-200" dirty="0">
                <a:latin typeface="Arial"/>
                <a:cs typeface="Arial"/>
              </a:rPr>
              <a:t>About</a:t>
            </a:r>
            <a:r>
              <a:rPr lang="en-IN" b="1" spc="-50" dirty="0"/>
              <a:t> Us</a:t>
            </a:r>
            <a:endParaRPr b="1"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00600" y="304800"/>
            <a:ext cx="177165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120" dirty="0">
                <a:latin typeface="Arial"/>
                <a:cs typeface="Arial"/>
              </a:rPr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937" y="1220787"/>
            <a:ext cx="8881745" cy="3593933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444500" indent="-431800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spc="-10" dirty="0">
                <a:latin typeface="Times New Roman"/>
                <a:cs typeface="Times New Roman"/>
              </a:rPr>
              <a:t>Introduction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Objective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schema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explanation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Tables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questions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(use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cases)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screenshots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summaries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insights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recommendations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Conclusion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(Key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overall)</a:t>
            </a:r>
            <a:endParaRPr sz="2000" dirty="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Experience/Challenges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Project.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06845" y="304800"/>
            <a:ext cx="267716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250" y="1066228"/>
            <a:ext cx="7425055" cy="41864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5715" indent="-286385" algn="just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Grocery</a:t>
            </a:r>
            <a:r>
              <a:rPr b="1" spc="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Store</a:t>
            </a:r>
            <a:r>
              <a:rPr b="1" spc="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Management</a:t>
            </a:r>
            <a:r>
              <a:rPr b="1" spc="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System</a:t>
            </a:r>
            <a:r>
              <a:rPr b="1" spc="3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focuses</a:t>
            </a:r>
            <a:r>
              <a:rPr spc="1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spc="-10" dirty="0">
                <a:latin typeface="Times New Roman"/>
                <a:cs typeface="Times New Roman"/>
              </a:rPr>
              <a:t>efficiently </a:t>
            </a:r>
            <a:r>
              <a:rPr dirty="0">
                <a:latin typeface="Times New Roman"/>
                <a:cs typeface="Times New Roman"/>
              </a:rPr>
              <a:t>managing</a:t>
            </a:r>
            <a:r>
              <a:rPr spc="22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key</a:t>
            </a:r>
            <a:r>
              <a:rPr spc="2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business</a:t>
            </a:r>
            <a:r>
              <a:rPr spc="2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operations</a:t>
            </a:r>
            <a:r>
              <a:rPr spc="2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such</a:t>
            </a:r>
            <a:r>
              <a:rPr spc="2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22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product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inventory, </a:t>
            </a:r>
            <a:r>
              <a:rPr dirty="0">
                <a:latin typeface="Times New Roman"/>
                <a:cs typeface="Times New Roman"/>
              </a:rPr>
              <a:t>customer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orders,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suppliers,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employees.</a:t>
            </a: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dirty="0">
              <a:latin typeface="Times New Roman"/>
              <a:cs typeface="Times New Roman"/>
            </a:endParaRPr>
          </a:p>
          <a:p>
            <a:pPr marL="298450" marR="5080" indent="-28638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>
                <a:latin typeface="Times New Roman"/>
                <a:cs typeface="Times New Roman"/>
              </a:rPr>
              <a:t>Our</a:t>
            </a:r>
            <a:r>
              <a:rPr spc="4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project</a:t>
            </a:r>
            <a:r>
              <a:rPr lang="en-IN" spc="4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lang="en-IN" spc="4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designed</a:t>
            </a:r>
            <a:r>
              <a:rPr lang="en-IN" spc="4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lang="en-IN" spc="4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simulate</a:t>
            </a:r>
            <a:r>
              <a:rPr b="1" spc="459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459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real-</a:t>
            </a:r>
            <a:r>
              <a:rPr b="1" dirty="0">
                <a:latin typeface="Times New Roman"/>
                <a:cs typeface="Times New Roman"/>
              </a:rPr>
              <a:t>world</a:t>
            </a:r>
            <a:r>
              <a:rPr b="1" spc="4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retail </a:t>
            </a:r>
            <a:r>
              <a:rPr b="1" dirty="0">
                <a:latin typeface="Times New Roman"/>
                <a:cs typeface="Times New Roman"/>
              </a:rPr>
              <a:t>environment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enabling</a:t>
            </a:r>
            <a:r>
              <a:rPr spc="1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structured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storage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retrieval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through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relational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database.</a:t>
            </a:r>
            <a:endParaRPr dirty="0">
              <a:latin typeface="Times New Roman"/>
              <a:cs typeface="Times New Roman"/>
            </a:endParaRPr>
          </a:p>
          <a:p>
            <a:pPr marL="298450" marR="6350" indent="-286385" algn="just">
              <a:lnSpc>
                <a:spcPct val="100000"/>
              </a:lnSpc>
              <a:spcBef>
                <a:spcPts val="2190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>
                <a:latin typeface="Times New Roman"/>
                <a:cs typeface="Times New Roman"/>
              </a:rPr>
              <a:t>It</a:t>
            </a:r>
            <a:r>
              <a:rPr spc="5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helps</a:t>
            </a:r>
            <a:r>
              <a:rPr spc="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track</a:t>
            </a:r>
            <a:r>
              <a:rPr spc="65" dirty="0">
                <a:latin typeface="Times New Roman"/>
                <a:cs typeface="Times New Roman"/>
              </a:rPr>
              <a:t>  </a:t>
            </a:r>
            <a:r>
              <a:rPr b="1" dirty="0">
                <a:latin typeface="Times New Roman"/>
                <a:cs typeface="Times New Roman"/>
              </a:rPr>
              <a:t>sales,</a:t>
            </a:r>
            <a:r>
              <a:rPr b="1" spc="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revenue</a:t>
            </a:r>
            <a:r>
              <a:rPr lang="en-IN" b="1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stock</a:t>
            </a:r>
            <a:r>
              <a:rPr b="1" spc="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levels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ensuring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better decision-</a:t>
            </a:r>
            <a:r>
              <a:rPr dirty="0">
                <a:latin typeface="Times New Roman"/>
                <a:cs typeface="Times New Roman"/>
              </a:rPr>
              <a:t>making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timely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product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availability.</a:t>
            </a:r>
            <a:endParaRPr dirty="0">
              <a:latin typeface="Times New Roman"/>
              <a:cs typeface="Times New Roman"/>
            </a:endParaRPr>
          </a:p>
          <a:p>
            <a:pPr marL="298450" marR="10160" indent="-286385" algn="just">
              <a:lnSpc>
                <a:spcPct val="100000"/>
              </a:lnSpc>
              <a:spcBef>
                <a:spcPts val="2105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lang="en-IN" spc="3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database</a:t>
            </a:r>
            <a:r>
              <a:rPr lang="en-IN" spc="3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structure</a:t>
            </a:r>
            <a:r>
              <a:rPr lang="en-IN" spc="3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integrates</a:t>
            </a:r>
            <a:r>
              <a:rPr spc="3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multiple</a:t>
            </a:r>
            <a:r>
              <a:rPr spc="34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entities—</a:t>
            </a:r>
            <a:r>
              <a:rPr b="1" spc="-10" dirty="0">
                <a:latin typeface="Times New Roman"/>
                <a:cs typeface="Times New Roman"/>
              </a:rPr>
              <a:t>Products, </a:t>
            </a:r>
            <a:r>
              <a:rPr b="1" dirty="0">
                <a:latin typeface="Times New Roman"/>
                <a:cs typeface="Times New Roman"/>
              </a:rPr>
              <a:t>Customers,</a:t>
            </a:r>
            <a:r>
              <a:rPr b="1" spc="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Orders,</a:t>
            </a:r>
            <a:r>
              <a:rPr b="1" spc="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Suppliers</a:t>
            </a:r>
            <a:r>
              <a:rPr lang="en-IN" b="1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6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Employees</a:t>
            </a:r>
            <a:r>
              <a:rPr spc="-10" dirty="0">
                <a:latin typeface="Times New Roman"/>
                <a:cs typeface="Times New Roman"/>
              </a:rPr>
              <a:t>—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reflect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realistic </a:t>
            </a:r>
            <a:r>
              <a:rPr dirty="0">
                <a:latin typeface="Times New Roman"/>
                <a:cs typeface="Times New Roman"/>
              </a:rPr>
              <a:t>business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interactions.</a:t>
            </a:r>
            <a:endParaRPr dirty="0">
              <a:latin typeface="Times New Roman"/>
              <a:cs typeface="Times New Roman"/>
            </a:endParaRPr>
          </a:p>
          <a:p>
            <a:pPr marL="298450" marR="11430" indent="-286385" algn="just">
              <a:lnSpc>
                <a:spcPct val="100000"/>
              </a:lnSpc>
              <a:spcBef>
                <a:spcPts val="2190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>
                <a:latin typeface="Times New Roman"/>
                <a:cs typeface="Times New Roman"/>
              </a:rPr>
              <a:t>Using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SQL</a:t>
            </a:r>
            <a:r>
              <a:rPr lang="en-IN" b="1" spc="1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queries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lang="en-IN" spc="2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lang="en-IN" spc="1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project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enables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extraction, </a:t>
            </a:r>
            <a:r>
              <a:rPr dirty="0">
                <a:latin typeface="Times New Roman"/>
                <a:cs typeface="Times New Roman"/>
              </a:rPr>
              <a:t>transformation,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analysis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derive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meaningful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business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insights.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1133475"/>
            <a:ext cx="3724275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76929">
              <a:lnSpc>
                <a:spcPct val="100000"/>
              </a:lnSpc>
              <a:spcBef>
                <a:spcPts val="130"/>
              </a:spcBef>
            </a:pPr>
            <a:r>
              <a:rPr dirty="0"/>
              <a:t>Objective</a:t>
            </a:r>
            <a:r>
              <a:rPr spc="1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4000"/>
            <a:ext cx="10972800" cy="28379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298450" algn="l"/>
              </a:tabLst>
            </a:pPr>
            <a:r>
              <a:rPr b="1" dirty="0">
                <a:latin typeface="Times New Roman"/>
                <a:cs typeface="Times New Roman"/>
              </a:rPr>
              <a:t>Design</a:t>
            </a:r>
            <a:r>
              <a:rPr b="1" spc="3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3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implement</a:t>
            </a:r>
            <a:r>
              <a:rPr b="1" spc="3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38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well-</a:t>
            </a:r>
            <a:r>
              <a:rPr dirty="0">
                <a:latin typeface="Times New Roman"/>
                <a:cs typeface="Times New Roman"/>
              </a:rPr>
              <a:t>structured</a:t>
            </a:r>
            <a:r>
              <a:rPr spc="3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relational</a:t>
            </a:r>
            <a:r>
              <a:rPr spc="3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database</a:t>
            </a:r>
            <a:r>
              <a:rPr spc="3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3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accurately</a:t>
            </a:r>
            <a:r>
              <a:rPr spc="3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represents</a:t>
            </a:r>
            <a:r>
              <a:rPr spc="34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the</a:t>
            </a:r>
            <a:endParaRPr dirty="0">
              <a:latin typeface="Times New Roman"/>
              <a:cs typeface="Times New Roman"/>
            </a:endParaRPr>
          </a:p>
          <a:p>
            <a:pPr marL="298450" algn="just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imes New Roman"/>
                <a:cs typeface="Times New Roman"/>
              </a:rPr>
              <a:t>operations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grocery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store.</a:t>
            </a:r>
            <a:endParaRPr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05"/>
              </a:spcBef>
            </a:pPr>
            <a:endParaRPr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b="1" dirty="0">
                <a:latin typeface="Times New Roman"/>
                <a:cs typeface="Times New Roman"/>
              </a:rPr>
              <a:t>Retrieve,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update,</a:t>
            </a:r>
            <a:r>
              <a:rPr b="1" spc="-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efficiently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using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SQL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commands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queries.</a:t>
            </a:r>
            <a:endParaRPr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</a:pPr>
            <a:endParaRPr dirty="0">
              <a:latin typeface="Times New Roman"/>
              <a:cs typeface="Times New Roman"/>
            </a:endParaRPr>
          </a:p>
          <a:p>
            <a:pPr marL="298450" marR="9525" indent="-286385" algn="just">
              <a:lnSpc>
                <a:spcPct val="100000"/>
              </a:lnSpc>
              <a:buFont typeface="Wingdings"/>
              <a:buChar char=""/>
              <a:tabLst>
                <a:tab pos="298450" algn="l"/>
                <a:tab pos="1316355" algn="l"/>
                <a:tab pos="2361565" algn="l"/>
                <a:tab pos="3900804" algn="l"/>
                <a:tab pos="4297680" algn="l"/>
                <a:tab pos="5552440" algn="l"/>
                <a:tab pos="6019165" algn="l"/>
                <a:tab pos="7252970" algn="l"/>
                <a:tab pos="8562975" algn="l"/>
                <a:tab pos="9643745" algn="l"/>
              </a:tabLst>
            </a:pPr>
            <a:r>
              <a:rPr b="1" spc="-10" dirty="0">
                <a:latin typeface="Times New Roman"/>
                <a:cs typeface="Times New Roman"/>
              </a:rPr>
              <a:t>Analyze</a:t>
            </a:r>
            <a:r>
              <a:rPr lang="en-IN" b="1" spc="-1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business</a:t>
            </a:r>
            <a:r>
              <a:rPr lang="en-IN" b="1" spc="-1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performance</a:t>
            </a:r>
            <a:r>
              <a:rPr lang="en-IN" b="1"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by</a:t>
            </a:r>
            <a:r>
              <a:rPr lang="en-IN"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identifying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top</a:t>
            </a:r>
            <a:r>
              <a:rPr lang="en-IN"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customers,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10" dirty="0">
                <a:latin typeface="Times New Roman"/>
                <a:cs typeface="Times New Roman"/>
              </a:rPr>
              <a:t>best-selling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10" dirty="0">
                <a:latin typeface="Times New Roman"/>
                <a:cs typeface="Times New Roman"/>
              </a:rPr>
              <a:t>products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and </a:t>
            </a:r>
            <a:r>
              <a:rPr dirty="0">
                <a:latin typeface="Times New Roman"/>
                <a:cs typeface="Times New Roman"/>
              </a:rPr>
              <a:t>overall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revenue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trends.</a:t>
            </a:r>
            <a:endParaRPr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dirty="0">
              <a:latin typeface="Times New Roman"/>
              <a:cs typeface="Times New Roman"/>
            </a:endParaRPr>
          </a:p>
          <a:p>
            <a:pPr marL="298450" marR="11430" indent="-286385" algn="just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b="1" dirty="0">
                <a:latin typeface="Times New Roman"/>
                <a:cs typeface="Times New Roman"/>
              </a:rPr>
              <a:t>Apply</a:t>
            </a:r>
            <a:r>
              <a:rPr b="1" spc="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advanced</a:t>
            </a:r>
            <a:r>
              <a:rPr b="1" spc="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SQL</a:t>
            </a:r>
            <a:r>
              <a:rPr b="1" spc="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concepts</a:t>
            </a:r>
            <a:r>
              <a:rPr b="1" spc="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such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joins,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aggregations,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filtering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solve real-</a:t>
            </a:r>
            <a:r>
              <a:rPr dirty="0">
                <a:latin typeface="Times New Roman"/>
                <a:cs typeface="Times New Roman"/>
              </a:rPr>
              <a:t>world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problems.</a:t>
            </a:r>
            <a:endParaRPr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10"/>
              </a:spcBef>
              <a:buFont typeface="Wingdings"/>
              <a:buChar char=""/>
            </a:pPr>
            <a:endParaRPr dirty="0">
              <a:latin typeface="Times New Roman"/>
              <a:cs typeface="Times New Roman"/>
            </a:endParaRPr>
          </a:p>
          <a:p>
            <a:pPr marL="298450" marR="6350" indent="-286385" algn="just">
              <a:lnSpc>
                <a:spcPct val="100000"/>
              </a:lnSpc>
              <a:buFont typeface="Wingdings"/>
              <a:buChar char=""/>
              <a:tabLst>
                <a:tab pos="298450" algn="l"/>
                <a:tab pos="1374775" algn="l"/>
                <a:tab pos="2844800" algn="l"/>
                <a:tab pos="3876040" algn="l"/>
                <a:tab pos="4274185" algn="l"/>
                <a:tab pos="5235575" algn="l"/>
                <a:tab pos="6012815" algn="l"/>
                <a:tab pos="7904480" algn="l"/>
                <a:tab pos="8472170" algn="l"/>
                <a:tab pos="9518015" algn="l"/>
              </a:tabLst>
            </a:pPr>
            <a:r>
              <a:rPr b="1" spc="-10" dirty="0">
                <a:latin typeface="Times New Roman"/>
                <a:cs typeface="Times New Roman"/>
              </a:rPr>
              <a:t>Develop</a:t>
            </a:r>
            <a:r>
              <a:rPr lang="en-IN" b="1" spc="-1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data-driven</a:t>
            </a:r>
            <a:r>
              <a:rPr lang="en-IN" b="1" spc="-1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insights</a:t>
            </a:r>
            <a:r>
              <a:rPr lang="en-IN" b="1"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to</a:t>
            </a:r>
            <a:r>
              <a:rPr lang="en-IN"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support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better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decision-making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and</a:t>
            </a:r>
            <a:r>
              <a:rPr lang="en-IN"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improve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store </a:t>
            </a:r>
            <a:r>
              <a:rPr dirty="0">
                <a:latin typeface="Times New Roman"/>
                <a:cs typeface="Times New Roman"/>
              </a:rPr>
              <a:t>management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efficiency.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EA41-8E43-03DD-7C04-4EAB0871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B6EE6DE-D5F3-E5C0-4233-48A16EAF90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500" y="228600"/>
            <a:ext cx="7239000" cy="4783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includes 7 interrelated tables: 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E9B3A-AE83-A846-1306-C0F3B7ED3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781971"/>
            <a:ext cx="8763000" cy="5390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8749FD-CFA5-9676-5669-BD1A115C4C3F}"/>
              </a:ext>
            </a:extLst>
          </p:cNvPr>
          <p:cNvSpPr txBox="1"/>
          <p:nvPr/>
        </p:nvSpPr>
        <p:spPr>
          <a:xfrm>
            <a:off x="1905000" y="5334000"/>
            <a:ext cx="170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Order Details</a:t>
            </a:r>
          </a:p>
        </p:txBody>
      </p:sp>
    </p:spTree>
    <p:extLst>
      <p:ext uri="{BB962C8B-B14F-4D97-AF65-F5344CB8AC3E}">
        <p14:creationId xmlns:p14="http://schemas.microsoft.com/office/powerpoint/2010/main" val="265096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5872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latin typeface="Arial"/>
                <a:cs typeface="Arial"/>
              </a:rPr>
              <a:t>ER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b="1" spc="-85" dirty="0">
                <a:latin typeface="Arial"/>
                <a:cs typeface="Arial"/>
              </a:rPr>
              <a:t>Diagram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spc="-70" dirty="0">
                <a:latin typeface="Arial"/>
                <a:cs typeface="Arial"/>
              </a:rPr>
              <a:t>and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b="1" spc="-114" dirty="0">
                <a:latin typeface="Arial"/>
                <a:cs typeface="Arial"/>
              </a:rPr>
              <a:t>schema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spc="-100" dirty="0">
                <a:latin typeface="Arial"/>
                <a:cs typeface="Arial"/>
              </a:rPr>
              <a:t>explanation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95C08-FDC1-524B-6682-A4DB780FBC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9"/>
          <a:stretch>
            <a:fillRect/>
          </a:stretch>
        </p:blipFill>
        <p:spPr>
          <a:xfrm>
            <a:off x="5145413" y="803488"/>
            <a:ext cx="6970387" cy="5521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FD364-08B9-A32D-558D-0339C7A51A5B}"/>
              </a:ext>
            </a:extLst>
          </p:cNvPr>
          <p:cNvSpPr txBox="1"/>
          <p:nvPr/>
        </p:nvSpPr>
        <p:spPr>
          <a:xfrm>
            <a:off x="323374" y="1316634"/>
            <a:ext cx="5105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One-to-Many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One-to-Many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One-to-Many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One-to-Many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One-to-Many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One-to-Many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51045" y="15874"/>
            <a:ext cx="309816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ABOUT</a:t>
            </a:r>
            <a:r>
              <a:rPr sz="3200" spc="-35" dirty="0"/>
              <a:t> </a:t>
            </a:r>
            <a:r>
              <a:rPr sz="3200" spc="-10" dirty="0"/>
              <a:t>TABLES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8001000" y="3966845"/>
            <a:ext cx="1478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Supplier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Table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2745" y="3733800"/>
            <a:ext cx="1786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Catergories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Table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0411" y="457200"/>
            <a:ext cx="1697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Employees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Table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8611" y="381000"/>
            <a:ext cx="1697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Customers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Table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19DE34-8FF7-F9E1-2338-E254409FF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604"/>
          <a:stretch>
            <a:fillRect/>
          </a:stretch>
        </p:blipFill>
        <p:spPr>
          <a:xfrm>
            <a:off x="6836410" y="4572000"/>
            <a:ext cx="4898390" cy="1573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033B8F-81BE-34F3-F908-7AEA88C9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27" y="762000"/>
            <a:ext cx="4712976" cy="27902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3B9542-C227-88DB-3D1E-1864ED1DCA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05"/>
          <a:stretch>
            <a:fillRect/>
          </a:stretch>
        </p:blipFill>
        <p:spPr>
          <a:xfrm>
            <a:off x="1143000" y="4215685"/>
            <a:ext cx="2890038" cy="15755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01F48C-E1BB-1CF7-7BEF-FC0079B72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914400"/>
            <a:ext cx="3094439" cy="2827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64766" y="64198"/>
            <a:ext cx="1517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Products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7200" y="236323"/>
            <a:ext cx="1339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Orders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Table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9800" y="3278822"/>
            <a:ext cx="19456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Order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details </a:t>
            </a:r>
            <a:r>
              <a:rPr sz="1800" b="1" spc="-10" dirty="0">
                <a:latin typeface="Times New Roman"/>
                <a:cs typeface="Times New Roman"/>
              </a:rPr>
              <a:t>Table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CCCAFF-06BF-7B63-6DB8-22EB075A2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27301"/>
            <a:ext cx="4347753" cy="26173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2F823B-C273-5760-0A97-13F3A0073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3"/>
          <a:stretch>
            <a:fillRect/>
          </a:stretch>
        </p:blipFill>
        <p:spPr>
          <a:xfrm>
            <a:off x="1143000" y="3683443"/>
            <a:ext cx="4799185" cy="25977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2EC640-9D84-8A89-F198-29BF609AA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61517"/>
            <a:ext cx="3048000" cy="2617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0450" y="508595"/>
            <a:ext cx="11313932" cy="13702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Insights: </a:t>
            </a:r>
            <a:b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an understanding of customer engagement and purchasing behavior.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0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8975" y="1834849"/>
            <a:ext cx="7175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575" y="3173412"/>
            <a:ext cx="817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937" y="3736457"/>
            <a:ext cx="1464945" cy="8413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9634" y="1936955"/>
            <a:ext cx="3871916" cy="2885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B9CF22-6057-A070-19E2-D39356524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50" y="2462053"/>
            <a:ext cx="6172200" cy="704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31381C-DE13-477F-AF55-4B70FE314463}"/>
              </a:ext>
            </a:extLst>
          </p:cNvPr>
          <p:cNvSpPr txBox="1"/>
          <p:nvPr/>
        </p:nvSpPr>
        <p:spPr>
          <a:xfrm>
            <a:off x="741268" y="4953000"/>
            <a:ext cx="9774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156 out of 200 customers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placed orders, meaning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 customers (22%) are inactive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0392" y="441261"/>
            <a:ext cx="1000887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392" y="1027747"/>
            <a:ext cx="716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392" y="3505200"/>
            <a:ext cx="8166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0" y="1195069"/>
            <a:ext cx="2514599" cy="2457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89F4D2-78D8-F6D4-8796-0A2BA64DD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515901"/>
            <a:ext cx="6735507" cy="1608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008310-BF31-A86F-FF2E-75E51E6D2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030243"/>
            <a:ext cx="3743008" cy="1756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435528-97CD-DCCD-5FE3-9C62E0C9D20B}"/>
              </a:ext>
            </a:extLst>
          </p:cNvPr>
          <p:cNvSpPr txBox="1"/>
          <p:nvPr/>
        </p:nvSpPr>
        <p:spPr>
          <a:xfrm>
            <a:off x="4953000" y="4030243"/>
            <a:ext cx="7793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group of repeat customers dominates order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Jyotika placed highest number of orders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649605" y="474344"/>
            <a:ext cx="994092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2000" spc="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0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</a:t>
            </a:r>
            <a:r>
              <a:rPr sz="2000" spc="1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0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000" spc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9604" y="985837"/>
            <a:ext cx="84943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76925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r>
              <a:rPr sz="2000" b="1" u="none" dirty="0">
                <a:latin typeface="Times New Roman"/>
                <a:cs typeface="Times New Roman"/>
              </a:rPr>
              <a:t>	</a:t>
            </a:r>
            <a:r>
              <a:rPr lang="en-IN" sz="2000" b="1" u="none" dirty="0">
                <a:latin typeface="Times New Roman"/>
                <a:cs typeface="Times New Roman"/>
              </a:rPr>
              <a:t>   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5F8738-08B0-086D-1924-0BB7B818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07527"/>
            <a:ext cx="6405786" cy="2226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6308B9-446A-0F1F-D378-F857051E38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1" b="9428"/>
          <a:stretch>
            <a:fillRect/>
          </a:stretch>
        </p:blipFill>
        <p:spPr>
          <a:xfrm>
            <a:off x="6781800" y="1487102"/>
            <a:ext cx="4970749" cy="3161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5747" y="206755"/>
            <a:ext cx="11059160" cy="1025913"/>
          </a:xfrm>
          <a:prstGeom prst="rect">
            <a:avLst/>
          </a:prstGeom>
        </p:spPr>
        <p:txBody>
          <a:bodyPr vert="horz" wrap="square" lIns="0" tIns="342891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0410">
              <a:lnSpc>
                <a:spcPct val="100000"/>
              </a:lnSpc>
              <a:spcBef>
                <a:spcPts val="520"/>
              </a:spcBef>
            </a:pP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775" y="3803332"/>
            <a:ext cx="817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495299"/>
            <a:ext cx="3276599" cy="293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84AAFB-89C9-FFFB-316A-825289165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97" y="1441802"/>
            <a:ext cx="6702425" cy="20724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C96CA4-D7CA-46F1-3AA8-7C42B780B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49" y="4232003"/>
            <a:ext cx="3937229" cy="19957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6FBB0-2600-970C-5C8B-27F60CD682BB}"/>
              </a:ext>
            </a:extLst>
          </p:cNvPr>
          <p:cNvSpPr txBox="1"/>
          <p:nvPr/>
        </p:nvSpPr>
        <p:spPr>
          <a:xfrm>
            <a:off x="5410200" y="4100270"/>
            <a:ext cx="6604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top 5 customers fall in the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₹9,000–₹11,500 sales range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299694"/>
            <a:ext cx="10668000" cy="13702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  <a:b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how well products are performing in terms of sales and revenue.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0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775" y="1657393"/>
            <a:ext cx="81788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775" y="3737292"/>
            <a:ext cx="817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1DF69D-1947-0863-A345-935F2FFC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2274642"/>
            <a:ext cx="5178425" cy="1154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C28A98-C19F-0787-754D-322E5939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31" y="4255724"/>
            <a:ext cx="3328540" cy="16878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6752E5-76B4-B91E-3B87-AF8DBF8E4CBB}"/>
              </a:ext>
            </a:extLst>
          </p:cNvPr>
          <p:cNvSpPr txBox="1"/>
          <p:nvPr/>
        </p:nvSpPr>
        <p:spPr>
          <a:xfrm>
            <a:off x="4800045" y="3904614"/>
            <a:ext cx="69852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Grains &amp; Cereals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Snacks &amp; Confectioneries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have the highest product count, reflecting strong consumer demand in these everyday staple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Household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has only 3 products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              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775" y="437578"/>
            <a:ext cx="846709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775" y="1018857"/>
            <a:ext cx="7175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775" y="3200400"/>
            <a:ext cx="817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1680775"/>
            <a:ext cx="2099603" cy="3210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8BC62C-D54F-835F-870B-8E1BD73B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01" y="1680775"/>
            <a:ext cx="4332424" cy="11100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0206A1-A2EB-15A7-0F5F-8B532B476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94" y="3810000"/>
            <a:ext cx="3544087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5747" y="302894"/>
            <a:ext cx="1078928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quantity)?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494" y="969073"/>
            <a:ext cx="716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494" y="3352800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5F3A46-4037-2DF9-DE62-74B17A6AC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67" y="1524001"/>
            <a:ext cx="6829353" cy="152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4F372D-2C22-9F8D-F8C7-6C112D3A4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67" y="3810000"/>
            <a:ext cx="4020867" cy="1762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F76A96-8A5A-D1FF-D2E4-82155BD60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03" y="1311092"/>
            <a:ext cx="2356406" cy="2287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1DAA05-222A-480B-D5A2-DD74343F4771}"/>
              </a:ext>
            </a:extLst>
          </p:cNvPr>
          <p:cNvSpPr txBox="1"/>
          <p:nvPr/>
        </p:nvSpPr>
        <p:spPr>
          <a:xfrm>
            <a:off x="5105399" y="3885405"/>
            <a:ext cx="6679873" cy="14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just"/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Bath soap, hand sanitizer, dishwashing soap, potato chips, and biscuits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top movers — these must maintain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stock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stockouts.</a:t>
            </a: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600392" y="201231"/>
            <a:ext cx="888682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1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sz="2000" spc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sz="2000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000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393" y="772731"/>
            <a:ext cx="999808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669915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r>
              <a:rPr sz="2000" b="1" u="none" dirty="0">
                <a:latin typeface="Times New Roman"/>
                <a:cs typeface="Times New Roman"/>
              </a:rPr>
              <a:t>	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A5BF64-06FE-B567-C693-B14BAAE02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2" y="1355069"/>
            <a:ext cx="6713036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DDD525-ED03-BC61-77E5-DC5AE0DC3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54447"/>
            <a:ext cx="4038600" cy="2860674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270AEE56-E673-BB1F-BF2D-DE17B3959A6C}"/>
              </a:ext>
            </a:extLst>
          </p:cNvPr>
          <p:cNvSpPr txBox="1"/>
          <p:nvPr/>
        </p:nvSpPr>
        <p:spPr>
          <a:xfrm>
            <a:off x="792637" y="2362200"/>
            <a:ext cx="1143000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669915" algn="l"/>
              </a:tabLst>
            </a:pPr>
            <a:r>
              <a:rPr sz="2000" b="1" u="none" dirty="0">
                <a:latin typeface="Times New Roman"/>
                <a:cs typeface="Times New Roman"/>
              </a:rPr>
              <a:t>	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D05F34-BF92-D912-5549-A4E21FF21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1752600"/>
            <a:ext cx="2632799" cy="26582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8817" y="296227"/>
            <a:ext cx="878205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8659" y="838199"/>
            <a:ext cx="7162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65E096-580D-2A02-D008-776A74516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50" y="1617941"/>
            <a:ext cx="6338708" cy="1811059"/>
          </a:xfrm>
          <a:prstGeom prst="rect">
            <a:avLst/>
          </a:prstGeom>
        </p:spPr>
      </p:pic>
      <p:sp>
        <p:nvSpPr>
          <p:cNvPr id="11" name="object 4"/>
          <p:cNvSpPr txBox="1"/>
          <p:nvPr/>
        </p:nvSpPr>
        <p:spPr>
          <a:xfrm>
            <a:off x="8763000" y="884555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869529-CEDF-4DAA-CD45-D7982B8A1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833" y="1617941"/>
            <a:ext cx="4188821" cy="1981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3CBD39-403C-8F9F-1417-884F103CCDCC}"/>
              </a:ext>
            </a:extLst>
          </p:cNvPr>
          <p:cNvSpPr txBox="1"/>
          <p:nvPr/>
        </p:nvSpPr>
        <p:spPr>
          <a:xfrm>
            <a:off x="545875" y="3873462"/>
            <a:ext cx="10731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just"/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Personal Care – Aarya has the highest sales (~69K), so it is the best-performing segment.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Grains &amp; Cereals and Snacks &amp; Confectioneries show up many times with high sales, which means these categories are in high demand.</a:t>
            </a:r>
          </a:p>
          <a:p>
            <a:pPr algn="just"/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64172" y="257358"/>
            <a:ext cx="10731724" cy="207043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Order Trends:</a:t>
            </a:r>
            <a:b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Analyze business performance through orders and revenue over time.</a:t>
            </a:r>
            <a:b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>
              <a:lnSpc>
                <a:spcPct val="100000"/>
              </a:lnSpc>
              <a:spcBef>
                <a:spcPts val="295"/>
              </a:spcBef>
            </a:pPr>
            <a:br>
              <a:rPr lang="en-I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9591" y="3277197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 descr="Cartoon Illustration Of A Family Shopping In A Supermarket Or Grocery Store  Royalty Free SVG, Cliparts, Vectors, and Stock Illustration. Image  203985199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1447800"/>
            <a:ext cx="3448050" cy="2806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272484-BDF4-A6E7-A78E-9ED26BFC5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73" y="2362200"/>
            <a:ext cx="4207828" cy="699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90E155-232C-2D5B-1416-A6868E50F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92" y="3796615"/>
            <a:ext cx="1712085" cy="7003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04F2D2-F859-8202-E818-1E2E79D8A761}"/>
              </a:ext>
            </a:extLst>
          </p:cNvPr>
          <p:cNvSpPr txBox="1"/>
          <p:nvPr/>
        </p:nvSpPr>
        <p:spPr>
          <a:xfrm>
            <a:off x="496449" y="4788122"/>
            <a:ext cx="10731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just"/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 orders from 200 customers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average is 1.5 orders per customer.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64172" y="257358"/>
            <a:ext cx="8084820" cy="102399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>
              <a:lnSpc>
                <a:spcPct val="100000"/>
              </a:lnSpc>
              <a:spcBef>
                <a:spcPts val="295"/>
              </a:spcBef>
            </a:pPr>
            <a:br>
              <a:rPr lang="en-I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4513" y="2689910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 descr="Free Grocery Shopping Cart Image | Download at StockCak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1752600"/>
            <a:ext cx="3219132" cy="3426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9222DC-86EE-6171-6A2B-5460D339D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72" y="1641129"/>
            <a:ext cx="6951028" cy="6647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CC6E79-4B99-27FC-26FA-8B8EAD33F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75" y="3256658"/>
            <a:ext cx="1950764" cy="812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042F86-1F91-D3FA-1E86-3BCD39177348}"/>
              </a:ext>
            </a:extLst>
          </p:cNvPr>
          <p:cNvSpPr txBox="1"/>
          <p:nvPr/>
        </p:nvSpPr>
        <p:spPr>
          <a:xfrm>
            <a:off x="496449" y="4788122"/>
            <a:ext cx="66663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just"/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average, each customer order is worth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₹2154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spending around ₹2154 per order.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72" y="257358"/>
            <a:ext cx="7856855" cy="102399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dates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>
              <a:lnSpc>
                <a:spcPct val="100000"/>
              </a:lnSpc>
              <a:spcBef>
                <a:spcPts val="295"/>
              </a:spcBef>
              <a:tabLst>
                <a:tab pos="6673850" algn="l"/>
              </a:tabLst>
            </a:pPr>
            <a:br>
              <a:rPr lang="en-I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sz="2000" b="1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0EE03F-C4D0-37D1-9EB5-C461ECB2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2" y="1600200"/>
            <a:ext cx="5198428" cy="131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6C3B51-6C24-6AFA-4CAC-C223A96DF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352" y="1620625"/>
            <a:ext cx="2725349" cy="30556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4E5F56-F159-9ECE-05AD-FA77E578948B}"/>
              </a:ext>
            </a:extLst>
          </p:cNvPr>
          <p:cNvSpPr txBox="1"/>
          <p:nvPr/>
        </p:nvSpPr>
        <p:spPr>
          <a:xfrm>
            <a:off x="525145" y="5015589"/>
            <a:ext cx="7924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10-09-2022 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30-03-2022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→ Highest orders (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 orders each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These are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peak demand days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64172" y="302894"/>
            <a:ext cx="982726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.What</a:t>
            </a:r>
            <a:r>
              <a:rPr sz="2000" spc="1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sz="2000" spc="1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sz="2000" spc="11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sz="2000" spc="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1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731471"/>
            <a:ext cx="960120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762115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r>
              <a:rPr sz="2000" b="1" u="none" dirty="0">
                <a:latin typeface="Times New Roman"/>
                <a:cs typeface="Times New Roman"/>
              </a:rPr>
              <a:t>	</a:t>
            </a:r>
            <a:r>
              <a:rPr lang="en-IN" sz="2000" b="1" u="none" dirty="0">
                <a:latin typeface="Times New Roman"/>
                <a:cs typeface="Times New Roman"/>
              </a:rPr>
              <a:t>           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B7647-954E-83D6-23C5-E116B829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41" y="1355477"/>
            <a:ext cx="6739359" cy="2454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54E70-5C09-00B7-88F8-27C6FDCF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46050"/>
            <a:ext cx="3589317" cy="3589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AEA52D-A1E0-3B3C-6049-043BCEC45424}"/>
              </a:ext>
            </a:extLst>
          </p:cNvPr>
          <p:cNvSpPr txBox="1"/>
          <p:nvPr/>
        </p:nvSpPr>
        <p:spPr>
          <a:xfrm>
            <a:off x="288706" y="4217941"/>
            <a:ext cx="80932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are highest in January and December, indicating strong seasonal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noticeable dip in sales is seen between April and June.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Months with more orders usually have higher revenue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relationship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5747" y="133123"/>
            <a:ext cx="11059160" cy="767318"/>
          </a:xfrm>
          <a:prstGeom prst="rect">
            <a:avLst/>
          </a:prstGeom>
        </p:spPr>
        <p:txBody>
          <a:bodyPr vert="horz" wrap="square" lIns="0" tIns="112197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484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0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494" y="4114800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71529-1070-5261-55B5-83EDFA2F5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4" y="983365"/>
            <a:ext cx="8307706" cy="2965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D1DF3F-3B4E-30EE-C73B-ACDC2E3B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5" y="4697103"/>
            <a:ext cx="4191000" cy="105095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2150A1A-6463-D9C1-8F4B-7166CE1C2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614" y="4114800"/>
            <a:ext cx="5715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Weekdays → more frequent, smaller purchases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Weekends → fewer but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higher-value purchases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64172" y="257358"/>
            <a:ext cx="11370628" cy="207043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Contribution:</a:t>
            </a:r>
            <a:b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 most active and profitable suppliers.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>
              <a:lnSpc>
                <a:spcPct val="100000"/>
              </a:lnSpc>
              <a:spcBef>
                <a:spcPts val="295"/>
              </a:spcBef>
            </a:pPr>
            <a:br>
              <a:rPr lang="en-I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494" y="3457257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D852F5-FD58-AB71-577C-F62B83B16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84" y="2437162"/>
            <a:ext cx="4192906" cy="787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F23D47-D64A-EDA8-56A9-B1D8CF63E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4" y="4114800"/>
            <a:ext cx="2181472" cy="788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2A034A-250A-4E83-3801-304C68B96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1600200"/>
            <a:ext cx="2728032" cy="27154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5747" y="206755"/>
            <a:ext cx="11059160" cy="1075094"/>
          </a:xfrm>
          <a:prstGeom prst="rect">
            <a:avLst/>
          </a:prstGeom>
        </p:spPr>
        <p:txBody>
          <a:bodyPr vert="horz" wrap="square" lIns="0" tIns="112197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484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br>
              <a:rPr lang="en-I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494" y="3429000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7700" y="533400"/>
            <a:ext cx="3467100" cy="2009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D55565-A160-C043-5851-A4A315362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3556"/>
            <a:ext cx="7239632" cy="1608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F870C6-99B9-D58D-E63E-9FD92B33D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4" y="4038600"/>
            <a:ext cx="3839278" cy="180048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B8A9678-1D90-15FE-4DF3-25BA66AE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114800"/>
            <a:ext cx="56387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Aarya supplies 18 products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among all suppliers and also delivers the highest sales.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72" y="302894"/>
            <a:ext cx="974153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494" y="886523"/>
            <a:ext cx="716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494" y="3048000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object 7" descr="Supermarket carrier paper bag with food | Free Vecto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1371600"/>
            <a:ext cx="1752599" cy="2173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EE0CF-6FE4-CF93-C21C-66EC37AD7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4" y="1480350"/>
            <a:ext cx="4610986" cy="1335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10A8CD-88E6-53AC-1B0F-00000F876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4" y="3669034"/>
            <a:ext cx="3048000" cy="202720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037E319-50F9-B08F-246F-1E6629CD4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548" y="3886200"/>
            <a:ext cx="7620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 sells expensive vs cheaper products.</a:t>
            </a: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positioned as premium and Aarav Sharma as budget-friendly, helping target different customer segments.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72" y="216788"/>
            <a:ext cx="9636125" cy="41145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10489" marR="5080" indent="-98425">
              <a:lnSpc>
                <a:spcPts val="3080"/>
              </a:lnSpc>
              <a:spcBef>
                <a:spcPts val="41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revenue)?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603" y="914400"/>
            <a:ext cx="7162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172" y="3733800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4117DC-5111-E988-6E56-E7EA57BEC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03" y="1535833"/>
            <a:ext cx="6168061" cy="1893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39B392-7369-0E52-B0BF-0E075E373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152664"/>
            <a:ext cx="3111176" cy="201953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130823F-33EA-9EEF-2DA5-4E365C811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428" y="3823901"/>
            <a:ext cx="7391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top supplier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₹221,137.83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contributing the highest revenue by a large margin.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Arava Sharma contributes minimally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both product count and sales  </a:t>
            </a: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72" y="380047"/>
            <a:ext cx="9999028" cy="14318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u="sn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Performance: </a:t>
            </a:r>
            <a:b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Assessing how employees are handling and influencing sales.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</a:t>
            </a:r>
            <a:r>
              <a:rPr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172" y="1722755"/>
            <a:ext cx="716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912" y="3561397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288D4A-9AC3-966F-8EBB-88769E7E3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2" y="2152972"/>
            <a:ext cx="5711809" cy="865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ECAEE9-7EE8-134B-B801-4B35AC702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46" y="4039349"/>
            <a:ext cx="2557954" cy="943358"/>
          </a:xfrm>
          <a:prstGeom prst="rect">
            <a:avLst/>
          </a:prstGeom>
        </p:spPr>
      </p:pic>
      <p:pic>
        <p:nvPicPr>
          <p:cNvPr id="7" name="object 7" descr="Supermarket Employee Stock Illustrations – 1,963 Supermarket Employee Stock  Illustrations, Vectors &amp; Clipart - Dreamstime"/>
          <p:cNvPicPr/>
          <p:nvPr/>
        </p:nvPicPr>
        <p:blipFill>
          <a:blip r:embed="rId4" cstate="print"/>
          <a:srcRect r="57936"/>
          <a:stretch>
            <a:fillRect/>
          </a:stretch>
        </p:blipFill>
        <p:spPr>
          <a:xfrm>
            <a:off x="8001000" y="1890077"/>
            <a:ext cx="2557954" cy="24771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72" y="380047"/>
            <a:ext cx="843153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0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172" y="952436"/>
            <a:ext cx="716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554" y="3644219"/>
            <a:ext cx="852488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2BC394-DD1D-6535-8145-F6F8D8159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74" y="1669668"/>
            <a:ext cx="5900725" cy="1544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CDC02B-669B-9CBF-3366-6D31829F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44" y="4114800"/>
            <a:ext cx="3205755" cy="159126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0D7EC02-548A-14A0-4D3E-6CD924A91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239399"/>
            <a:ext cx="641762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Diya Sharma handled the most orders (38)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Arjun Kumar.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64172" y="380047"/>
            <a:ext cx="997140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1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1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sz="2000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000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</a:t>
            </a:r>
            <a:r>
              <a:rPr sz="2000" spc="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000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172" y="952436"/>
            <a:ext cx="997140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811645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r>
              <a:rPr sz="2000" b="1" u="none" dirty="0">
                <a:latin typeface="Times New Roman"/>
                <a:cs typeface="Times New Roman"/>
              </a:rPr>
              <a:t>	</a:t>
            </a:r>
            <a:r>
              <a:rPr lang="en-IN" sz="2000" b="1" u="none" dirty="0">
                <a:latin typeface="Times New Roman"/>
                <a:cs typeface="Times New Roman"/>
              </a:rPr>
              <a:t>                     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BAE59-004C-F4CA-645A-85DD78802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199"/>
            <a:ext cx="5438446" cy="1600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FE287E-1605-11D1-69C9-CD770D54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450182"/>
            <a:ext cx="2667000" cy="350043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9DAA793-FFF1-A1D3-8D7A-53B937797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84" y="4440197"/>
            <a:ext cx="7391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Singh, Zara Verma, and Diya Sharma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 in total sales value.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72" y="380047"/>
            <a:ext cx="947674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</a:t>
            </a:r>
            <a:r>
              <a:rPr sz="20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920843"/>
            <a:ext cx="716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0806" y="846836"/>
            <a:ext cx="8166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9AFD6C-7944-1469-5E33-2569A0A1D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48665"/>
            <a:ext cx="6957001" cy="2751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A2842E-284B-27B1-A6E7-5641A4FA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325098"/>
            <a:ext cx="4069482" cy="323567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EED8D29-78FA-F707-8590-898E2E6D5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10" y="4830474"/>
            <a:ext cx="105212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employees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Aarav Kumar and Zara Verma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significantly higher average order values, indicating stronger sales efficiency or higher-value deals.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72" y="256421"/>
            <a:ext cx="10960735" cy="13702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Details:</a:t>
            </a:r>
            <a:b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Explore item-level sales patterns and pricing behavior</a:t>
            </a:r>
            <a:b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043" y="1670143"/>
            <a:ext cx="7169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879" y="3261677"/>
            <a:ext cx="8172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E79648-C43B-5AD9-A9B2-0B3B0735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2" y="2067927"/>
            <a:ext cx="3445828" cy="906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21515A-BE8A-AC6F-1DC6-82B81C577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95" y="3809839"/>
            <a:ext cx="2253758" cy="230906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C378967-AA4E-44C4-65FE-2B25F29F5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914001"/>
            <a:ext cx="7696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price generally increases with quantity, showing a positive relationship.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some lower quantities still have high prices, indicating differences in item pricing or premium products.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64172" y="380047"/>
            <a:ext cx="854456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000" spc="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000" spc="1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sz="2000" spc="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  <a:r>
              <a:rPr sz="2000" spc="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000" spc="1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2BAEB-508C-61A8-F841-2C1728FBD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86" y="1428750"/>
            <a:ext cx="5172157" cy="123825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01F59093-B7FC-36BD-E8BB-51F4619E9935}"/>
              </a:ext>
            </a:extLst>
          </p:cNvPr>
          <p:cNvSpPr txBox="1"/>
          <p:nvPr/>
        </p:nvSpPr>
        <p:spPr>
          <a:xfrm>
            <a:off x="457200" y="2821369"/>
            <a:ext cx="78435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38975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448007C-FB92-D5C1-699D-F46EF7B1CD77}"/>
              </a:ext>
            </a:extLst>
          </p:cNvPr>
          <p:cNvSpPr txBox="1"/>
          <p:nvPr/>
        </p:nvSpPr>
        <p:spPr>
          <a:xfrm>
            <a:off x="364172" y="823331"/>
            <a:ext cx="7843520" cy="477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38975" algn="l"/>
              </a:tabLst>
            </a:pPr>
            <a:r>
              <a:rPr sz="3000" b="1" u="sng" spc="-15" baseline="-277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r>
              <a:rPr sz="3000" b="1" u="none" baseline="-2777" dirty="0">
                <a:latin typeface="Times New Roman"/>
                <a:cs typeface="Times New Roman"/>
              </a:rPr>
              <a:t>	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96B5F9-FD94-B445-4B7E-8DA7AD3FD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05200"/>
            <a:ext cx="3265594" cy="2209800"/>
          </a:xfrm>
          <a:prstGeom prst="rect">
            <a:avLst/>
          </a:prstGeom>
        </p:spPr>
      </p:pic>
      <p:pic>
        <p:nvPicPr>
          <p:cNvPr id="3" name="object 6" descr="Free Grocery Shopping Cart Image | Download at StockCake">
            <a:extLst>
              <a:ext uri="{FF2B5EF4-FFF2-40B4-BE49-F238E27FC236}">
                <a16:creationId xmlns:a16="http://schemas.microsoft.com/office/drawing/2014/main" id="{B615294A-8745-4BF4-BAFB-F3AF1B5CA5A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4800" y="1295400"/>
            <a:ext cx="3367404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96850" y="342011"/>
            <a:ext cx="972312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1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sz="2000" spc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2000" spc="1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sz="2000" spc="1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vary</a:t>
            </a:r>
            <a:r>
              <a:rPr sz="2000" spc="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000" spc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sz="2000" spc="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0" y="870226"/>
            <a:ext cx="1174751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700520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5D21A9-568C-79E6-AD56-2C4FDAA0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15" y="1226335"/>
            <a:ext cx="5165103" cy="2046343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0869A78D-2F5A-B18E-4802-00E62A7EA84B}"/>
              </a:ext>
            </a:extLst>
          </p:cNvPr>
          <p:cNvSpPr txBox="1"/>
          <p:nvPr/>
        </p:nvSpPr>
        <p:spPr>
          <a:xfrm>
            <a:off x="349249" y="764084"/>
            <a:ext cx="521017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700520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Query</a:t>
            </a:r>
            <a:r>
              <a:rPr sz="2000" b="1" u="none" dirty="0">
                <a:latin typeface="Times New Roman"/>
                <a:cs typeface="Times New Roman"/>
              </a:rPr>
              <a:t>	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7D2841-8984-79CA-3823-BD2B10029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838" y="1277738"/>
            <a:ext cx="5486400" cy="231560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7B7682B-7B7D-6D7D-A5D2-12A4047D9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12" y="4109697"/>
            <a:ext cx="1113317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Insights: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are consistent for each product (avg = min = max), indicating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pricing with no variation or discounts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Low-priced essentials (like salt, yogurt) drive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volume but not high value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High-priced items (like ghee, paneer, spices) contribute more revenue per sale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090" rIns="0" bIns="0" rtlCol="0">
            <a:spAutoFit/>
          </a:bodyPr>
          <a:lstStyle/>
          <a:p>
            <a:pPr marL="1764664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80" dirty="0"/>
              <a:t> </a:t>
            </a:r>
            <a:r>
              <a:rPr dirty="0"/>
              <a:t>Insights</a:t>
            </a:r>
            <a:r>
              <a:rPr spc="20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Recommendations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8692" y="1676400"/>
            <a:ext cx="10254615" cy="4062009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065" marR="11430">
              <a:spcBef>
                <a:spcPts val="1050"/>
              </a:spcBef>
              <a:buSzPct val="90000"/>
              <a:tabLst>
                <a:tab pos="354965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marL="297815" marR="11430" indent="-285750">
              <a:spcBef>
                <a:spcPts val="1050"/>
              </a:spcBef>
              <a:buSzPct val="90000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156</a:t>
            </a:r>
            <a:r>
              <a:rPr b="1" spc="-4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b="1" spc="-5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b="1" spc="-2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orders.</a:t>
            </a:r>
            <a:endParaRPr lang="en-IN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11430">
              <a:spcBef>
                <a:spcPts val="1050"/>
              </a:spcBef>
              <a:buSzPct val="90000"/>
              <a:tabLst>
                <a:tab pos="354965" algn="l"/>
              </a:tabLst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15240" indent="-342900">
              <a:spcBef>
                <a:spcPts val="980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b="1" spc="30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33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b="1" spc="29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b="1" spc="31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</a:t>
            </a:r>
            <a:r>
              <a:rPr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quantities</a:t>
            </a:r>
            <a:r>
              <a:rPr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products(more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quantity).</a:t>
            </a:r>
            <a:endParaRPr lang="en-IN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8890">
              <a:spcBef>
                <a:spcPts val="900"/>
              </a:spcBef>
              <a:buSzPct val="90000"/>
              <a:tabLst>
                <a:tab pos="354965" algn="l"/>
              </a:tabLst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spcBef>
                <a:spcPts val="894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</a:t>
            </a:r>
            <a:r>
              <a:rPr spc="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</a:t>
            </a:r>
            <a:r>
              <a:rPr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spc="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The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(11500-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9000)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spcBef>
                <a:spcPts val="894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endParaRPr lang="en-IN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spcBef>
                <a:spcPts val="894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repeat purchases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introducing bundle offers or discounts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17776" y="656336"/>
            <a:ext cx="815276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80" dirty="0"/>
              <a:t> </a:t>
            </a:r>
            <a:r>
              <a:rPr dirty="0"/>
              <a:t>Insights</a:t>
            </a:r>
            <a:r>
              <a:rPr spc="20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447800"/>
            <a:ext cx="10702608" cy="30854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25"/>
              </a:spcBef>
            </a:pPr>
            <a:r>
              <a:rPr sz="2400" b="1" spc="-10" dirty="0">
                <a:latin typeface="Times New Roman"/>
                <a:cs typeface="Times New Roman"/>
              </a:rPr>
              <a:t>Products</a:t>
            </a:r>
            <a:endParaRPr lang="en-IN" sz="2400" b="1" spc="-1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425"/>
              </a:spcBef>
            </a:pPr>
            <a:endParaRPr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ts val="2065"/>
              </a:lnSpc>
              <a:spcBef>
                <a:spcPts val="300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Times New Roman"/>
                <a:cs typeface="Times New Roman"/>
              </a:rPr>
              <a:t>Products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having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5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categories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those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Grains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Cereals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Snacks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Confectioneries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has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more</a:t>
            </a:r>
            <a:endParaRPr dirty="0">
              <a:latin typeface="Times New Roman"/>
              <a:cs typeface="Times New Roman"/>
            </a:endParaRPr>
          </a:p>
          <a:p>
            <a:pPr marL="354965" algn="just">
              <a:lnSpc>
                <a:spcPts val="1689"/>
              </a:lnSpc>
              <a:tabLst>
                <a:tab pos="4784090" algn="l"/>
                <a:tab pos="8461375" algn="l"/>
                <a:tab pos="9391650" algn="l"/>
              </a:tabLst>
            </a:pPr>
            <a:r>
              <a:rPr dirty="0">
                <a:latin typeface="Times New Roman"/>
                <a:cs typeface="Times New Roman"/>
              </a:rPr>
              <a:t>product</a:t>
            </a:r>
            <a:r>
              <a:rPr spc="45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count</a:t>
            </a:r>
            <a:r>
              <a:rPr spc="45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Household</a:t>
            </a:r>
            <a:r>
              <a:rPr b="1" spc="43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4471C4"/>
                </a:solidFill>
                <a:latin typeface="Times New Roman"/>
                <a:cs typeface="Times New Roman"/>
              </a:rPr>
              <a:t>category</a:t>
            </a:r>
            <a:r>
              <a:rPr lang="en-IN" b="1" spc="-10" dirty="0">
                <a:solidFill>
                  <a:srgbClr val="4471C4"/>
                </a:solidFill>
                <a:latin typeface="Times New Roman"/>
                <a:cs typeface="Times New Roman"/>
              </a:rPr>
              <a:t> 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having</a:t>
            </a:r>
            <a:r>
              <a:rPr b="1" spc="459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only</a:t>
            </a:r>
            <a:r>
              <a:rPr b="1" spc="45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3</a:t>
            </a:r>
            <a:r>
              <a:rPr b="1" spc="49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products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spc="490" dirty="0">
                <a:latin typeface="Times New Roman"/>
                <a:cs typeface="Times New Roman"/>
              </a:rPr>
              <a:t> </a:t>
            </a:r>
            <a:endParaRPr lang="en-IN" spc="490" dirty="0">
              <a:latin typeface="Times New Roman"/>
              <a:cs typeface="Times New Roman"/>
            </a:endParaRPr>
          </a:p>
          <a:p>
            <a:pPr marL="354965" algn="just">
              <a:lnSpc>
                <a:spcPts val="1689"/>
              </a:lnSpc>
              <a:tabLst>
                <a:tab pos="4784090" algn="l"/>
                <a:tab pos="8461375" algn="l"/>
                <a:tab pos="9391650" algn="l"/>
              </a:tabLst>
            </a:pPr>
            <a:endParaRPr lang="en-IN" spc="49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980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Times New Roman"/>
                <a:cs typeface="Times New Roman"/>
              </a:rPr>
              <a:t>In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products</a:t>
            </a:r>
            <a:r>
              <a:rPr spc="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particularly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Bath</a:t>
            </a:r>
            <a:r>
              <a:rPr b="1" spc="1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soap,</a:t>
            </a:r>
            <a:r>
              <a:rPr b="1" spc="1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Hand sanitizer,</a:t>
            </a:r>
            <a:r>
              <a:rPr b="1" spc="-1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Dishwashing</a:t>
            </a:r>
            <a:r>
              <a:rPr b="1" spc="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soaps,</a:t>
            </a:r>
            <a:r>
              <a:rPr b="1" spc="3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potato</a:t>
            </a:r>
            <a:r>
              <a:rPr b="1" spc="2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4471C4"/>
                </a:solidFill>
                <a:latin typeface="Times New Roman"/>
                <a:cs typeface="Times New Roman"/>
              </a:rPr>
              <a:t>chips,</a:t>
            </a:r>
            <a:r>
              <a:rPr b="1" spc="3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4471C4"/>
                </a:solidFill>
                <a:latin typeface="Times New Roman"/>
                <a:cs typeface="Times New Roman"/>
              </a:rPr>
              <a:t>biscuits</a:t>
            </a:r>
            <a:endParaRPr dirty="0">
              <a:latin typeface="Times New Roman"/>
              <a:cs typeface="Times New Roman"/>
            </a:endParaRPr>
          </a:p>
          <a:p>
            <a:pPr marL="354965" algn="just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having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high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sales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by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quantity,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should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maintain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sufficient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stock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these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products.</a:t>
            </a:r>
            <a:endParaRPr lang="en-IN" spc="-10" dirty="0">
              <a:latin typeface="Times New Roman"/>
              <a:cs typeface="Times New Roman"/>
            </a:endParaRPr>
          </a:p>
          <a:p>
            <a:pPr marL="354965" algn="just">
              <a:lnSpc>
                <a:spcPct val="100000"/>
              </a:lnSpc>
            </a:pPr>
            <a:endParaRPr dirty="0">
              <a:latin typeface="Times New Roman"/>
              <a:cs typeface="Times New Roman"/>
            </a:endParaRPr>
          </a:p>
          <a:p>
            <a:pPr marL="354965" marR="7620" indent="-342900" algn="just">
              <a:lnSpc>
                <a:spcPct val="72000"/>
              </a:lnSpc>
              <a:spcBef>
                <a:spcPts val="975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Times New Roman"/>
                <a:cs typeface="Times New Roman"/>
              </a:rPr>
              <a:t>And</a:t>
            </a:r>
            <a:r>
              <a:rPr spc="4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some</a:t>
            </a:r>
            <a:r>
              <a:rPr spc="4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products</a:t>
            </a:r>
            <a:r>
              <a:rPr spc="48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4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having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less</a:t>
            </a:r>
            <a:r>
              <a:rPr b="1" spc="43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sales</a:t>
            </a:r>
            <a:r>
              <a:rPr b="1" spc="4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by</a:t>
            </a:r>
            <a:r>
              <a:rPr b="1" spc="4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quantity</a:t>
            </a:r>
            <a:r>
              <a:rPr b="1" spc="4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</a:t>
            </a:r>
            <a:r>
              <a:rPr spc="4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</a:t>
            </a:r>
            <a:r>
              <a:rPr spc="4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4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cutdown</a:t>
            </a:r>
            <a:r>
              <a:rPr spc="4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4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stock</a:t>
            </a:r>
            <a:r>
              <a:rPr spc="45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from </a:t>
            </a:r>
            <a:r>
              <a:rPr spc="-10" dirty="0">
                <a:latin typeface="Times New Roman"/>
                <a:cs typeface="Times New Roman"/>
              </a:rPr>
              <a:t>suppliers</a:t>
            </a:r>
            <a:endParaRPr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29"/>
              </a:spcBef>
              <a:buSzPct val="90000"/>
              <a:tabLst>
                <a:tab pos="354965" algn="l"/>
              </a:tabLst>
            </a:pPr>
            <a:r>
              <a:rPr lang="en-IN" dirty="0">
                <a:latin typeface="Times New Roman"/>
                <a:cs typeface="Times New Roman"/>
              </a:rPr>
              <a:t>      </a:t>
            </a:r>
            <a:r>
              <a:rPr dirty="0">
                <a:latin typeface="Times New Roman"/>
                <a:cs typeface="Times New Roman"/>
              </a:rPr>
              <a:t>Ex.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Ghee,</a:t>
            </a:r>
            <a:r>
              <a:rPr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Conditioner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090" rIns="0" bIns="0" rtlCol="0">
            <a:spAutoFit/>
          </a:bodyPr>
          <a:lstStyle/>
          <a:p>
            <a:pPr marL="1764664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80" dirty="0"/>
              <a:t> </a:t>
            </a:r>
            <a:r>
              <a:rPr dirty="0"/>
              <a:t>Insights</a:t>
            </a:r>
            <a:r>
              <a:rPr spc="20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Recommendations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32192" y="1829705"/>
            <a:ext cx="10255885" cy="278069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lang="en-IN" spc="-10" dirty="0"/>
              <a:t>Suppliers</a:t>
            </a: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endParaRPr sz="1800" spc="-10" dirty="0"/>
          </a:p>
          <a:p>
            <a:pPr marL="354965" marR="5080" indent="-342900" algn="just">
              <a:lnSpc>
                <a:spcPct val="72000"/>
              </a:lnSpc>
              <a:spcBef>
                <a:spcPts val="969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lang="en-US" sz="1800" dirty="0">
                <a:solidFill>
                  <a:srgbClr val="006FC0"/>
                </a:solidFill>
              </a:rPr>
              <a:t>Aarya</a:t>
            </a:r>
            <a:r>
              <a:rPr lang="en-US" sz="1800" spc="185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providing</a:t>
            </a:r>
            <a:r>
              <a:rPr lang="en-US" sz="1800" spc="175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18</a:t>
            </a:r>
            <a:r>
              <a:rPr lang="en-US" sz="1800" spc="225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products</a:t>
            </a:r>
            <a:r>
              <a:rPr lang="en-US" sz="1800" spc="220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which</a:t>
            </a:r>
            <a:r>
              <a:rPr lang="en-US" sz="1800" spc="225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is</a:t>
            </a:r>
            <a:r>
              <a:rPr lang="en-US" sz="1800" spc="225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highest</a:t>
            </a:r>
            <a:r>
              <a:rPr lang="en-US" sz="1800" spc="170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among</a:t>
            </a:r>
            <a:r>
              <a:rPr lang="en-US" sz="1800" spc="175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all</a:t>
            </a:r>
            <a:r>
              <a:rPr lang="en-US" sz="1800" spc="180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the</a:t>
            </a:r>
            <a:r>
              <a:rPr lang="en-US" sz="1800" spc="170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suppliers</a:t>
            </a:r>
            <a:r>
              <a:rPr lang="en-US" sz="1800" b="0" dirty="0"/>
              <a:t>.</a:t>
            </a:r>
            <a:r>
              <a:rPr lang="en-US" sz="1800" b="0" spc="204" dirty="0"/>
              <a:t> </a:t>
            </a:r>
            <a:r>
              <a:rPr lang="en-US" sz="1800" b="0" dirty="0"/>
              <a:t>Not</a:t>
            </a:r>
            <a:r>
              <a:rPr lang="en-US" sz="1800" b="0" spc="180" dirty="0"/>
              <a:t> </a:t>
            </a:r>
            <a:r>
              <a:rPr lang="en-US" sz="1800" b="0" dirty="0"/>
              <a:t>only</a:t>
            </a:r>
            <a:r>
              <a:rPr lang="en-US" sz="1800" b="0" spc="200" dirty="0"/>
              <a:t> </a:t>
            </a:r>
            <a:r>
              <a:rPr lang="en-US" sz="1800" b="0" dirty="0"/>
              <a:t>the</a:t>
            </a:r>
            <a:r>
              <a:rPr lang="en-US" sz="1800" b="0" spc="175" dirty="0"/>
              <a:t> </a:t>
            </a:r>
            <a:r>
              <a:rPr lang="en-US" sz="1800" b="0" spc="-20" dirty="0"/>
              <a:t>more </a:t>
            </a:r>
            <a:r>
              <a:rPr lang="en-US" sz="1800" b="0" dirty="0"/>
              <a:t>products</a:t>
            </a:r>
            <a:r>
              <a:rPr lang="en-US" sz="1800" b="0" spc="110" dirty="0"/>
              <a:t> </a:t>
            </a:r>
            <a:r>
              <a:rPr lang="en-US" sz="1800" b="0" dirty="0"/>
              <a:t>the</a:t>
            </a:r>
            <a:r>
              <a:rPr lang="en-US" sz="1800" b="0" spc="75" dirty="0"/>
              <a:t> </a:t>
            </a:r>
            <a:r>
              <a:rPr lang="en-US" sz="1800" b="0" dirty="0"/>
              <a:t>sales</a:t>
            </a:r>
            <a:r>
              <a:rPr lang="en-US" sz="1800" b="0" spc="120" dirty="0"/>
              <a:t> </a:t>
            </a:r>
            <a:r>
              <a:rPr lang="en-US" sz="1800" b="0" dirty="0"/>
              <a:t>of</a:t>
            </a:r>
            <a:r>
              <a:rPr lang="en-US" sz="1800" b="0" spc="114" dirty="0"/>
              <a:t> </a:t>
            </a:r>
            <a:r>
              <a:rPr lang="en-US" sz="1800" b="0" dirty="0"/>
              <a:t>each</a:t>
            </a:r>
            <a:r>
              <a:rPr lang="en-US" sz="1800" b="0" spc="60" dirty="0"/>
              <a:t> </a:t>
            </a:r>
            <a:r>
              <a:rPr lang="en-US" sz="1800" b="0" dirty="0"/>
              <a:t>product</a:t>
            </a:r>
            <a:r>
              <a:rPr lang="en-US" sz="1800" b="0" spc="100" dirty="0"/>
              <a:t> </a:t>
            </a:r>
            <a:r>
              <a:rPr lang="en-US" sz="1800" b="0" dirty="0"/>
              <a:t>supplied</a:t>
            </a:r>
            <a:r>
              <a:rPr lang="en-US" sz="1800" b="0" spc="90" dirty="0"/>
              <a:t> </a:t>
            </a:r>
            <a:r>
              <a:rPr lang="en-US" sz="1800" b="0" dirty="0"/>
              <a:t>by</a:t>
            </a:r>
            <a:r>
              <a:rPr lang="en-US" sz="1800" b="0" spc="114" dirty="0"/>
              <a:t> </a:t>
            </a:r>
            <a:r>
              <a:rPr lang="en-US" sz="1800" b="0" dirty="0"/>
              <a:t>Aarya</a:t>
            </a:r>
            <a:r>
              <a:rPr lang="en-US" sz="1800" b="0" spc="120" dirty="0"/>
              <a:t> </a:t>
            </a:r>
            <a:r>
              <a:rPr lang="en-US" sz="1800" b="0" dirty="0"/>
              <a:t>giving</a:t>
            </a:r>
            <a:r>
              <a:rPr lang="en-US" sz="1800" b="0" spc="75" dirty="0"/>
              <a:t> </a:t>
            </a:r>
            <a:r>
              <a:rPr lang="en-US" sz="1800" dirty="0">
                <a:solidFill>
                  <a:srgbClr val="006FC0"/>
                </a:solidFill>
              </a:rPr>
              <a:t>highest</a:t>
            </a:r>
            <a:r>
              <a:rPr lang="en-US" sz="1800" spc="65" dirty="0">
                <a:solidFill>
                  <a:srgbClr val="006FC0"/>
                </a:solidFill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sales</a:t>
            </a:r>
            <a:r>
              <a:rPr lang="en-US" sz="1800" b="0" dirty="0"/>
              <a:t>.</a:t>
            </a:r>
            <a:r>
              <a:rPr lang="en-US" sz="1800" b="0" spc="95" dirty="0"/>
              <a:t> </a:t>
            </a:r>
            <a:r>
              <a:rPr lang="en-US" sz="1800" b="0" dirty="0"/>
              <a:t>So</a:t>
            </a:r>
            <a:r>
              <a:rPr lang="en-US" sz="1800" b="0" spc="80" dirty="0"/>
              <a:t> </a:t>
            </a:r>
            <a:r>
              <a:rPr lang="en-US" sz="1800" b="0" dirty="0"/>
              <a:t>we</a:t>
            </a:r>
            <a:r>
              <a:rPr lang="en-US" sz="1800" b="0" spc="120" dirty="0"/>
              <a:t> </a:t>
            </a:r>
            <a:r>
              <a:rPr lang="en-US" sz="1800" b="0" dirty="0"/>
              <a:t>will</a:t>
            </a:r>
            <a:r>
              <a:rPr lang="en-US" sz="1800" b="0" spc="100" dirty="0"/>
              <a:t> </a:t>
            </a:r>
            <a:r>
              <a:rPr lang="en-US" sz="1800" b="0" spc="-10" dirty="0"/>
              <a:t>continue </a:t>
            </a:r>
            <a:r>
              <a:rPr lang="en-US" sz="1800" b="0" dirty="0"/>
              <a:t>with</a:t>
            </a:r>
            <a:r>
              <a:rPr lang="en-US" sz="1800" b="0" spc="-30" dirty="0"/>
              <a:t> </a:t>
            </a:r>
            <a:r>
              <a:rPr lang="en-US" sz="1800" b="0" spc="-10" dirty="0"/>
              <a:t>Aarya.</a:t>
            </a:r>
          </a:p>
          <a:p>
            <a:pPr marL="12065" marR="5080" algn="just">
              <a:lnSpc>
                <a:spcPct val="72000"/>
              </a:lnSpc>
              <a:spcBef>
                <a:spcPts val="969"/>
              </a:spcBef>
              <a:buSzPct val="90000"/>
              <a:tabLst>
                <a:tab pos="354965" algn="l"/>
              </a:tabLst>
            </a:pPr>
            <a:endParaRPr lang="en-US" sz="1800" b="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72000"/>
              </a:lnSpc>
              <a:spcBef>
                <a:spcPts val="969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lang="en-US" sz="1800" b="0" dirty="0">
                <a:latin typeface="Times New Roman"/>
                <a:cs typeface="Times New Roman"/>
              </a:rPr>
              <a:t>In</a:t>
            </a:r>
            <a:r>
              <a:rPr lang="en-US" sz="1800" b="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006FC0"/>
                </a:solidFill>
              </a:rPr>
              <a:t>Dairy Products</a:t>
            </a:r>
            <a:r>
              <a:rPr lang="en-US" sz="1800" spc="-5" dirty="0">
                <a:solidFill>
                  <a:srgbClr val="006FC0"/>
                </a:solidFill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supplier</a:t>
            </a:r>
            <a:r>
              <a:rPr lang="en-US" sz="1800" b="0" dirty="0"/>
              <a:t> </a:t>
            </a:r>
            <a:r>
              <a:rPr lang="en-US" sz="1800" b="0" spc="5" dirty="0">
                <a:latin typeface="Times New Roman"/>
                <a:cs typeface="Times New Roman"/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“</a:t>
            </a:r>
            <a:r>
              <a:rPr lang="en-US" sz="1800" dirty="0">
                <a:solidFill>
                  <a:srgbClr val="006FC0"/>
                </a:solidFill>
              </a:rPr>
              <a:t>Sai</a:t>
            </a:r>
            <a:r>
              <a:rPr lang="en-US" sz="1800" b="0" dirty="0">
                <a:latin typeface="Times New Roman"/>
                <a:cs typeface="Times New Roman"/>
              </a:rPr>
              <a:t>”</a:t>
            </a:r>
            <a:r>
              <a:rPr lang="en-US" sz="1800" b="0" spc="5" dirty="0">
                <a:latin typeface="Times New Roman"/>
                <a:cs typeface="Times New Roman"/>
              </a:rPr>
              <a:t> is highest with </a:t>
            </a:r>
            <a:r>
              <a:rPr lang="en-US" sz="1800" b="0" spc="5" dirty="0"/>
              <a:t>t</a:t>
            </a:r>
            <a:r>
              <a:rPr lang="en-US" sz="1800" b="0" dirty="0">
                <a:latin typeface="Times New Roman"/>
                <a:cs typeface="Times New Roman"/>
              </a:rPr>
              <a:t>otal sales</a:t>
            </a:r>
            <a:r>
              <a:rPr lang="en-US" sz="1800" b="0" spc="35" dirty="0">
                <a:latin typeface="Times New Roman"/>
                <a:cs typeface="Times New Roman"/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are</a:t>
            </a:r>
            <a:r>
              <a:rPr lang="en-US" sz="1800" b="0" spc="-20" dirty="0">
                <a:latin typeface="Times New Roman"/>
                <a:cs typeface="Times New Roman"/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50740</a:t>
            </a:r>
            <a:r>
              <a:rPr lang="en-US" sz="1800" b="0" spc="30" dirty="0"/>
              <a:t>.</a:t>
            </a:r>
          </a:p>
          <a:p>
            <a:pPr marL="12065" marR="5080">
              <a:lnSpc>
                <a:spcPct val="72000"/>
              </a:lnSpc>
              <a:spcBef>
                <a:spcPts val="969"/>
              </a:spcBef>
              <a:buSzPct val="90000"/>
              <a:tabLst>
                <a:tab pos="354965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 marL="354965" marR="8890" indent="-342900" algn="just">
              <a:lnSpc>
                <a:spcPct val="72000"/>
              </a:lnSpc>
              <a:spcBef>
                <a:spcPts val="900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sz="1800" dirty="0">
                <a:solidFill>
                  <a:srgbClr val="0070C0"/>
                </a:solidFill>
                <a:latin typeface="Times New Roman"/>
                <a:cs typeface="Times New Roman"/>
              </a:rPr>
              <a:t>Arava</a:t>
            </a:r>
            <a:r>
              <a:rPr sz="1800" spc="2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70C0"/>
                </a:solidFill>
                <a:latin typeface="Times New Roman"/>
                <a:cs typeface="Times New Roman"/>
              </a:rPr>
              <a:t>Sharma</a:t>
            </a:r>
            <a:r>
              <a:rPr sz="1800" spc="1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providing</a:t>
            </a:r>
            <a:r>
              <a:rPr sz="1800" b="0" spc="21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less</a:t>
            </a:r>
            <a:r>
              <a:rPr sz="1800" b="0" spc="16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products</a:t>
            </a:r>
            <a:r>
              <a:rPr sz="1800" b="0" spc="229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and</a:t>
            </a:r>
            <a:r>
              <a:rPr sz="1800" b="0" spc="21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the</a:t>
            </a:r>
            <a:r>
              <a:rPr sz="1800" b="0" spc="17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sales</a:t>
            </a:r>
            <a:r>
              <a:rPr sz="1800" b="0" spc="22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are</a:t>
            </a:r>
            <a:r>
              <a:rPr sz="1800" b="0" spc="18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also</a:t>
            </a:r>
            <a:r>
              <a:rPr sz="1800" b="0" spc="16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less.</a:t>
            </a:r>
            <a:r>
              <a:rPr sz="1800" b="0" spc="204" dirty="0"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</a:t>
            </a:r>
            <a:r>
              <a:rPr sz="1800" b="0" spc="18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</a:t>
            </a:r>
            <a:r>
              <a:rPr sz="1800" b="0" spc="22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need</a:t>
            </a:r>
            <a:r>
              <a:rPr sz="1800" b="0" spc="16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</a:t>
            </a:r>
            <a:r>
              <a:rPr sz="1800" b="0" spc="18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stop</a:t>
            </a:r>
            <a:r>
              <a:rPr sz="1800" b="0" spc="16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800" b="0" spc="-1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supply </a:t>
            </a: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</a:t>
            </a:r>
            <a:r>
              <a:rPr sz="1800" b="0" spc="-3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Arava</a:t>
            </a:r>
            <a:r>
              <a:rPr sz="1800" b="0" spc="-2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800" b="0" spc="-1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Sharma.</a:t>
            </a:r>
            <a:endParaRPr sz="18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090" rIns="0" bIns="0" rtlCol="0">
            <a:spAutoFit/>
          </a:bodyPr>
          <a:lstStyle/>
          <a:p>
            <a:pPr marL="1764664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80" dirty="0"/>
              <a:t> </a:t>
            </a:r>
            <a:r>
              <a:rPr dirty="0"/>
              <a:t>Insights</a:t>
            </a:r>
            <a:r>
              <a:rPr spc="20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Recommendations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32192" y="1829705"/>
            <a:ext cx="10255885" cy="3108159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pc="-10" dirty="0"/>
              <a:t>Employees</a:t>
            </a:r>
            <a:endParaRPr lang="en-IN" spc="-10" dirty="0"/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endParaRPr sz="1800" spc="-10" dirty="0"/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sz="1800" b="0" dirty="0">
                <a:latin typeface="Times New Roman"/>
                <a:cs typeface="Times New Roman"/>
              </a:rPr>
              <a:t>Among</a:t>
            </a:r>
            <a:r>
              <a:rPr sz="1800" b="0" spc="-5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all</a:t>
            </a:r>
            <a:r>
              <a:rPr sz="1800" b="0" spc="-2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employees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FC0"/>
                </a:solidFill>
              </a:rPr>
              <a:t>Diya</a:t>
            </a:r>
            <a:r>
              <a:rPr sz="1800" spc="-25" dirty="0">
                <a:solidFill>
                  <a:srgbClr val="006FC0"/>
                </a:solidFill>
              </a:rPr>
              <a:t> </a:t>
            </a:r>
            <a:r>
              <a:rPr sz="1800" dirty="0">
                <a:solidFill>
                  <a:srgbClr val="006FC0"/>
                </a:solidFill>
              </a:rPr>
              <a:t>Sharma</a:t>
            </a:r>
            <a:r>
              <a:rPr sz="1800" spc="-40" dirty="0">
                <a:solidFill>
                  <a:srgbClr val="006FC0"/>
                </a:solidFill>
              </a:rPr>
              <a:t> </a:t>
            </a:r>
            <a:r>
              <a:rPr sz="1800" dirty="0">
                <a:solidFill>
                  <a:srgbClr val="006FC0"/>
                </a:solidFill>
              </a:rPr>
              <a:t>handled</a:t>
            </a:r>
            <a:r>
              <a:rPr sz="1800" spc="-40" dirty="0">
                <a:solidFill>
                  <a:srgbClr val="006FC0"/>
                </a:solidFill>
              </a:rPr>
              <a:t> </a:t>
            </a:r>
            <a:r>
              <a:rPr sz="1800" dirty="0">
                <a:solidFill>
                  <a:srgbClr val="006FC0"/>
                </a:solidFill>
              </a:rPr>
              <a:t>more </a:t>
            </a:r>
            <a:r>
              <a:rPr sz="1800" spc="-10" dirty="0">
                <a:solidFill>
                  <a:srgbClr val="006FC0"/>
                </a:solidFill>
              </a:rPr>
              <a:t>orders(38)</a:t>
            </a:r>
            <a:endParaRPr lang="en-IN" sz="1800" spc="-10" dirty="0">
              <a:solidFill>
                <a:srgbClr val="006FC0"/>
              </a:solidFill>
            </a:endParaRPr>
          </a:p>
          <a:p>
            <a:pPr marL="12065" marR="10795">
              <a:lnSpc>
                <a:spcPts val="2180"/>
              </a:lnSpc>
              <a:spcBef>
                <a:spcPts val="1010"/>
              </a:spcBef>
              <a:buSzPct val="90000"/>
              <a:tabLst>
                <a:tab pos="354965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sz="1800" b="0" dirty="0">
                <a:latin typeface="Times New Roman"/>
                <a:cs typeface="Times New Roman"/>
              </a:rPr>
              <a:t>Next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006FC0"/>
                </a:solidFill>
              </a:rPr>
              <a:t>Arjun</a:t>
            </a:r>
            <a:r>
              <a:rPr sz="1800" spc="-35" dirty="0">
                <a:solidFill>
                  <a:srgbClr val="006FC0"/>
                </a:solidFill>
              </a:rPr>
              <a:t> </a:t>
            </a:r>
            <a:r>
              <a:rPr sz="1800" dirty="0">
                <a:solidFill>
                  <a:srgbClr val="006FC0"/>
                </a:solidFill>
              </a:rPr>
              <a:t>Kumar</a:t>
            </a:r>
            <a:r>
              <a:rPr sz="1800" spc="-25" dirty="0">
                <a:solidFill>
                  <a:srgbClr val="006FC0"/>
                </a:solidFill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ordered</a:t>
            </a:r>
            <a:r>
              <a:rPr sz="1800" b="0" spc="-1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more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orders</a:t>
            </a:r>
            <a:endParaRPr lang="en-IN" sz="1800" b="0" spc="-1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2180"/>
              </a:lnSpc>
              <a:spcBef>
                <a:spcPts val="1010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sz="1800" b="0" dirty="0">
                <a:latin typeface="Times New Roman"/>
                <a:cs typeface="Times New Roman"/>
              </a:rPr>
              <a:t>Aditya</a:t>
            </a:r>
            <a:r>
              <a:rPr sz="1800" b="0" spc="204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Singh,</a:t>
            </a:r>
            <a:r>
              <a:rPr sz="1800" b="0" spc="25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Zara</a:t>
            </a:r>
            <a:r>
              <a:rPr sz="1800" b="0" spc="24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Verma,</a:t>
            </a:r>
            <a:r>
              <a:rPr sz="1800" b="0" spc="19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Diya</a:t>
            </a:r>
            <a:r>
              <a:rPr sz="1800" b="0" spc="24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Sharma</a:t>
            </a:r>
            <a:r>
              <a:rPr sz="1800" b="0" spc="19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handled</a:t>
            </a:r>
            <a:r>
              <a:rPr sz="1800" b="0" spc="24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FC0"/>
                </a:solidFill>
              </a:rPr>
              <a:t>highest</a:t>
            </a:r>
            <a:r>
              <a:rPr sz="1800" spc="200" dirty="0">
                <a:solidFill>
                  <a:srgbClr val="006FC0"/>
                </a:solidFill>
              </a:rPr>
              <a:t> </a:t>
            </a:r>
            <a:r>
              <a:rPr sz="1800" dirty="0">
                <a:solidFill>
                  <a:srgbClr val="006FC0"/>
                </a:solidFill>
              </a:rPr>
              <a:t>total</a:t>
            </a:r>
            <a:r>
              <a:rPr sz="1800" spc="254" dirty="0">
                <a:solidFill>
                  <a:srgbClr val="006FC0"/>
                </a:solidFill>
              </a:rPr>
              <a:t> </a:t>
            </a:r>
            <a:r>
              <a:rPr sz="1800" dirty="0">
                <a:solidFill>
                  <a:srgbClr val="006FC0"/>
                </a:solidFill>
              </a:rPr>
              <a:t>sales</a:t>
            </a:r>
            <a:r>
              <a:rPr lang="en-IN" sz="1800" b="0" dirty="0">
                <a:solidFill>
                  <a:srgbClr val="006FC0"/>
                </a:solidFill>
              </a:rPr>
              <a:t>, </a:t>
            </a:r>
            <a:r>
              <a:rPr sz="1800" b="0" dirty="0">
                <a:latin typeface="Times New Roman"/>
                <a:cs typeface="Times New Roman"/>
              </a:rPr>
              <a:t>so</a:t>
            </a:r>
            <a:r>
              <a:rPr sz="1800" b="0" spc="2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these</a:t>
            </a:r>
            <a:r>
              <a:rPr sz="1800" b="0" spc="229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employees</a:t>
            </a:r>
            <a:r>
              <a:rPr sz="1800" b="0" spc="190" dirty="0">
                <a:latin typeface="Times New Roman"/>
                <a:cs typeface="Times New Roman"/>
              </a:rPr>
              <a:t> </a:t>
            </a:r>
            <a:r>
              <a:rPr sz="1800" b="0" spc="-20" dirty="0">
                <a:latin typeface="Times New Roman"/>
                <a:cs typeface="Times New Roman"/>
              </a:rPr>
              <a:t>also </a:t>
            </a:r>
            <a:r>
              <a:rPr sz="1800" b="0" dirty="0">
                <a:latin typeface="Times New Roman"/>
                <a:cs typeface="Times New Roman"/>
              </a:rPr>
              <a:t>done</a:t>
            </a:r>
            <a:r>
              <a:rPr sz="1800" b="0" spc="-1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their</a:t>
            </a:r>
            <a:r>
              <a:rPr sz="1800" b="0" spc="-2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job</a:t>
            </a:r>
            <a:r>
              <a:rPr sz="1800" b="0" spc="-30" dirty="0">
                <a:latin typeface="Times New Roman"/>
                <a:cs typeface="Times New Roman"/>
              </a:rPr>
              <a:t> </a:t>
            </a:r>
            <a:r>
              <a:rPr sz="1800" b="0" spc="-20" dirty="0">
                <a:latin typeface="Times New Roman"/>
                <a:cs typeface="Times New Roman"/>
              </a:rPr>
              <a:t>well.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090" rIns="0" bIns="0" rtlCol="0">
            <a:spAutoFit/>
          </a:bodyPr>
          <a:lstStyle/>
          <a:p>
            <a:pPr marL="1764664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80" dirty="0"/>
              <a:t> </a:t>
            </a:r>
            <a:r>
              <a:rPr dirty="0"/>
              <a:t>Insights</a:t>
            </a:r>
            <a:r>
              <a:rPr spc="20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528992"/>
            <a:ext cx="10066972" cy="380001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45"/>
              </a:spcBef>
            </a:pPr>
            <a:r>
              <a:rPr sz="2400" b="1" spc="-10" dirty="0">
                <a:latin typeface="Times New Roman"/>
                <a:cs typeface="Times New Roman"/>
              </a:rPr>
              <a:t>Orders</a:t>
            </a:r>
            <a:endParaRPr lang="en-IN" sz="2400" b="1" spc="-1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45"/>
              </a:spcBef>
            </a:pPr>
            <a:endParaRPr dirty="0">
              <a:latin typeface="Times New Roman"/>
              <a:cs typeface="Times New Roman"/>
            </a:endParaRPr>
          </a:p>
          <a:p>
            <a:pPr marL="354965" marR="5715" indent="-342900" algn="just">
              <a:lnSpc>
                <a:spcPts val="2180"/>
              </a:lnSpc>
              <a:spcBef>
                <a:spcPts val="1080"/>
              </a:spcBef>
              <a:buClr>
                <a:srgbClr val="000000"/>
              </a:buClr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Soyabean</a:t>
            </a:r>
            <a:r>
              <a:rPr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oil,</a:t>
            </a:r>
            <a:r>
              <a:rPr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yogurt,</a:t>
            </a:r>
            <a:r>
              <a:rPr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mixed</a:t>
            </a:r>
            <a:r>
              <a:rPr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vegetables,</a:t>
            </a:r>
            <a:r>
              <a:rPr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white</a:t>
            </a:r>
            <a:r>
              <a:rPr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bread</a:t>
            </a:r>
            <a:r>
              <a:rPr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these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items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 should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reduce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particularly </a:t>
            </a:r>
            <a:r>
              <a:rPr dirty="0">
                <a:latin typeface="Times New Roman"/>
                <a:cs typeface="Times New Roman"/>
              </a:rPr>
              <a:t>because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less</a:t>
            </a:r>
            <a:r>
              <a:rPr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life</a:t>
            </a:r>
            <a:r>
              <a:rPr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span</a:t>
            </a:r>
            <a:r>
              <a:rPr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less</a:t>
            </a:r>
            <a:r>
              <a:rPr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orders.</a:t>
            </a:r>
            <a:endParaRPr lang="en-IN" b="1" spc="-10" dirty="0">
              <a:solidFill>
                <a:srgbClr val="006FC0"/>
              </a:solidFill>
              <a:latin typeface="Times New Roman"/>
              <a:cs typeface="Times New Roman"/>
            </a:endParaRPr>
          </a:p>
          <a:p>
            <a:pPr marL="354965" marR="5715" indent="-342900" algn="just">
              <a:lnSpc>
                <a:spcPts val="2180"/>
              </a:lnSpc>
              <a:spcBef>
                <a:spcPts val="1080"/>
              </a:spcBef>
              <a:buClr>
                <a:srgbClr val="000000"/>
              </a:buClr>
              <a:buSzPct val="90000"/>
              <a:buFont typeface="Wingdings"/>
              <a:buChar char=""/>
              <a:tabLst>
                <a:tab pos="354965" algn="l"/>
              </a:tabLst>
            </a:pPr>
            <a:endParaRPr dirty="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ts val="2180"/>
              </a:lnSpc>
              <a:spcBef>
                <a:spcPts val="975"/>
              </a:spcBef>
              <a:buSzPct val="90000"/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Times New Roman"/>
                <a:cs typeface="Times New Roman"/>
              </a:rPr>
              <a:t>We</a:t>
            </a:r>
            <a:r>
              <a:rPr spc="2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didn’t</a:t>
            </a:r>
            <a:r>
              <a:rPr spc="2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put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any</a:t>
            </a:r>
            <a:r>
              <a:rPr spc="2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discount</a:t>
            </a:r>
            <a:r>
              <a:rPr spc="25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2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products.</a:t>
            </a:r>
            <a:r>
              <a:rPr spc="2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</a:t>
            </a:r>
            <a:r>
              <a:rPr spc="2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</a:t>
            </a:r>
            <a:r>
              <a:rPr spc="2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didn’t</a:t>
            </a:r>
            <a:r>
              <a:rPr spc="2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observed</a:t>
            </a:r>
            <a:r>
              <a:rPr spc="2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unit</a:t>
            </a:r>
            <a:r>
              <a:rPr spc="2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price</a:t>
            </a:r>
            <a:r>
              <a:rPr spc="2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variation</a:t>
            </a:r>
            <a:r>
              <a:rPr spc="2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28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same </a:t>
            </a:r>
            <a:r>
              <a:rPr spc="-10" dirty="0">
                <a:latin typeface="Times New Roman"/>
                <a:cs typeface="Times New Roman"/>
              </a:rPr>
              <a:t>products</a:t>
            </a:r>
            <a:endParaRPr lang="en-IN" spc="-10" dirty="0">
              <a:latin typeface="Times New Roman"/>
              <a:cs typeface="Times New Roman"/>
            </a:endParaRPr>
          </a:p>
          <a:p>
            <a:pPr marL="12065" marR="5080" algn="just">
              <a:lnSpc>
                <a:spcPts val="2180"/>
              </a:lnSpc>
              <a:spcBef>
                <a:spcPts val="975"/>
              </a:spcBef>
              <a:buSzPct val="90000"/>
              <a:tabLst>
                <a:tab pos="354965" algn="l"/>
              </a:tabLst>
            </a:pPr>
            <a:endParaRPr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ts val="2255"/>
              </a:lnSpc>
              <a:spcBef>
                <a:spcPts val="710"/>
              </a:spcBef>
              <a:buSzPct val="90000"/>
              <a:buFont typeface="Wingdings"/>
              <a:buChar char=""/>
              <a:tabLst>
                <a:tab pos="354965" algn="l"/>
                <a:tab pos="10026015" algn="l"/>
              </a:tabLst>
            </a:pPr>
            <a:r>
              <a:rPr dirty="0">
                <a:latin typeface="Times New Roman"/>
                <a:cs typeface="Times New Roman"/>
              </a:rPr>
              <a:t>We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need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try</a:t>
            </a:r>
            <a:r>
              <a:rPr b="1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discounts</a:t>
            </a:r>
            <a:r>
              <a:rPr b="1" spc="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particular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products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specific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time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observe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trends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and</a:t>
            </a:r>
            <a:r>
              <a:rPr lang="en-IN" spc="-25" dirty="0"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at</a:t>
            </a:r>
            <a:endParaRPr dirty="0">
              <a:latin typeface="Times New Roman"/>
              <a:cs typeface="Times New Roman"/>
            </a:endParaRPr>
          </a:p>
          <a:p>
            <a:pPr marL="354965" algn="just">
              <a:lnSpc>
                <a:spcPts val="2255"/>
              </a:lnSpc>
            </a:pP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least</a:t>
            </a:r>
            <a:r>
              <a:rPr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for</a:t>
            </a:r>
            <a:r>
              <a:rPr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items</a:t>
            </a:r>
            <a:r>
              <a:rPr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which</a:t>
            </a:r>
            <a:r>
              <a:rPr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are</a:t>
            </a:r>
            <a:r>
              <a:rPr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having</a:t>
            </a:r>
            <a:r>
              <a:rPr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less</a:t>
            </a:r>
            <a:r>
              <a:rPr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6FC0"/>
                </a:solidFill>
                <a:latin typeface="Times New Roman"/>
                <a:cs typeface="Times New Roman"/>
              </a:rPr>
              <a:t>sales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 that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it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improve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our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sales.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81000" y="63034"/>
            <a:ext cx="10134600" cy="1088118"/>
          </a:xfrm>
          <a:prstGeom prst="rect">
            <a:avLst/>
          </a:prstGeom>
        </p:spPr>
        <p:txBody>
          <a:bodyPr vert="horz" wrap="square" lIns="0" tIns="475615" rIns="0" bIns="0" rtlCol="0">
            <a:spAutoFit/>
          </a:bodyPr>
          <a:lstStyle/>
          <a:p>
            <a:pPr marL="4577080" algn="l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1477055"/>
            <a:ext cx="7467600" cy="390388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Designed a </a:t>
            </a:r>
            <a:r>
              <a:rPr lang="en-US" b="1" dirty="0">
                <a:latin typeface="Times New Roman"/>
                <a:cs typeface="Times New Roman"/>
              </a:rPr>
              <a:t>well-structured relational database </a:t>
            </a:r>
            <a:r>
              <a:rPr lang="en-US" dirty="0">
                <a:latin typeface="Times New Roman"/>
                <a:cs typeface="Times New Roman"/>
              </a:rPr>
              <a:t>using multiple tables</a:t>
            </a:r>
          </a:p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Established </a:t>
            </a:r>
            <a:r>
              <a:rPr lang="en-US" b="1" dirty="0">
                <a:latin typeface="Times New Roman"/>
                <a:cs typeface="Times New Roman"/>
              </a:rPr>
              <a:t>proper relationships between tables </a:t>
            </a:r>
            <a:r>
              <a:rPr lang="en-US" dirty="0">
                <a:latin typeface="Times New Roman"/>
                <a:cs typeface="Times New Roman"/>
              </a:rPr>
              <a:t>for efficient data handling</a:t>
            </a:r>
          </a:p>
          <a:p>
            <a:pPr marL="12700" marR="5080" algn="just">
              <a:lnSpc>
                <a:spcPct val="89900"/>
              </a:lnSpc>
              <a:spcBef>
                <a:spcPts val="37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Performed analysis using </a:t>
            </a:r>
            <a:r>
              <a:rPr lang="en-US" b="1" dirty="0">
                <a:latin typeface="Times New Roman"/>
                <a:cs typeface="Times New Roman"/>
              </a:rPr>
              <a:t>advanced SQL queries </a:t>
            </a:r>
            <a:r>
              <a:rPr lang="en-US" dirty="0">
                <a:latin typeface="Times New Roman"/>
                <a:cs typeface="Times New Roman"/>
              </a:rPr>
              <a:t>(joins, aggregations, etc.)</a:t>
            </a:r>
          </a:p>
          <a:p>
            <a:pPr marL="12700" marR="5080" algn="just">
              <a:lnSpc>
                <a:spcPct val="89900"/>
              </a:lnSpc>
              <a:spcBef>
                <a:spcPts val="37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Evaluated </a:t>
            </a:r>
            <a:r>
              <a:rPr lang="en-US" b="1" dirty="0">
                <a:latin typeface="Times New Roman"/>
                <a:cs typeface="Times New Roman"/>
              </a:rPr>
              <a:t>overall store performance </a:t>
            </a:r>
            <a:r>
              <a:rPr lang="en-US" dirty="0">
                <a:latin typeface="Times New Roman"/>
                <a:cs typeface="Times New Roman"/>
              </a:rPr>
              <a:t>and sales behavior</a:t>
            </a:r>
          </a:p>
          <a:p>
            <a:pPr marL="12700" marR="5080" algn="just">
              <a:lnSpc>
                <a:spcPct val="89900"/>
              </a:lnSpc>
              <a:spcBef>
                <a:spcPts val="37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Provided </a:t>
            </a:r>
            <a:r>
              <a:rPr lang="en-US" b="1" dirty="0">
                <a:latin typeface="Times New Roman"/>
                <a:cs typeface="Times New Roman"/>
              </a:rPr>
              <a:t>recommendations to improve </a:t>
            </a:r>
            <a:r>
              <a:rPr lang="en-US" dirty="0">
                <a:latin typeface="Times New Roman"/>
                <a:cs typeface="Times New Roman"/>
              </a:rPr>
              <a:t>store management</a:t>
            </a:r>
          </a:p>
          <a:p>
            <a:pPr marL="12700" marR="5080" algn="just">
              <a:lnSpc>
                <a:spcPct val="89900"/>
              </a:lnSpc>
              <a:spcBef>
                <a:spcPts val="37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Successfully </a:t>
            </a:r>
            <a:r>
              <a:rPr lang="en-US" b="1" dirty="0">
                <a:latin typeface="Times New Roman"/>
                <a:cs typeface="Times New Roman"/>
              </a:rPr>
              <a:t>achieved all project objectives</a:t>
            </a:r>
          </a:p>
          <a:p>
            <a:pPr marL="12700" marR="5080" algn="just">
              <a:lnSpc>
                <a:spcPct val="89900"/>
              </a:lnSpc>
              <a:spcBef>
                <a:spcPts val="370"/>
              </a:spcBef>
            </a:pPr>
            <a:endParaRPr lang="en-US" b="1" dirty="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899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Insights derived can help the grocery store </a:t>
            </a:r>
            <a:r>
              <a:rPr lang="en-US" b="1" dirty="0">
                <a:latin typeface="Times New Roman"/>
                <a:cs typeface="Times New Roman"/>
              </a:rPr>
              <a:t>increase sales and efficiency</a:t>
            </a:r>
            <a:endParaRPr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61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30"/>
              </a:spcBef>
            </a:pPr>
            <a:r>
              <a:rPr dirty="0"/>
              <a:t>Challenges</a:t>
            </a:r>
            <a:r>
              <a:rPr spc="120" dirty="0"/>
              <a:t> </a:t>
            </a:r>
            <a:r>
              <a:rPr spc="-10" dirty="0"/>
              <a:t>Faced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1040" y="1692274"/>
            <a:ext cx="10918825" cy="37314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 algn="just">
              <a:lnSpc>
                <a:spcPts val="2290"/>
              </a:lnSpc>
              <a:spcBef>
                <a:spcPts val="130"/>
              </a:spcBef>
              <a:buSzPct val="90000"/>
              <a:buFont typeface="Wingdings"/>
              <a:buChar char=""/>
              <a:tabLst>
                <a:tab pos="355600" algn="l"/>
              </a:tabLst>
            </a:pPr>
            <a:r>
              <a:rPr dirty="0">
                <a:latin typeface="Times New Roman"/>
                <a:cs typeface="Times New Roman"/>
              </a:rPr>
              <a:t>Major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challenging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extract</a:t>
            </a:r>
            <a:r>
              <a:rPr spc="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months,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years,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trends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from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date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if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it’s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stored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text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(VARCHAR)</a:t>
            </a:r>
            <a:endParaRPr dirty="0">
              <a:latin typeface="Times New Roman"/>
              <a:cs typeface="Times New Roman"/>
            </a:endParaRPr>
          </a:p>
          <a:p>
            <a:pPr marL="355600" algn="just">
              <a:lnSpc>
                <a:spcPts val="2290"/>
              </a:lnSpc>
            </a:pPr>
            <a:r>
              <a:rPr dirty="0">
                <a:latin typeface="Times New Roman"/>
                <a:cs typeface="Times New Roman"/>
              </a:rPr>
              <a:t>instead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proper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format.</a:t>
            </a:r>
            <a:endParaRPr lang="en-IN" spc="-10" dirty="0">
              <a:latin typeface="Times New Roman"/>
              <a:cs typeface="Times New Roman"/>
            </a:endParaRPr>
          </a:p>
          <a:p>
            <a:pPr marL="355600" algn="just">
              <a:lnSpc>
                <a:spcPts val="2290"/>
              </a:lnSpc>
            </a:pPr>
            <a:endParaRPr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ts val="2330"/>
              </a:lnSpc>
              <a:spcBef>
                <a:spcPts val="675"/>
              </a:spcBef>
              <a:buSzPct val="90000"/>
              <a:buFont typeface="Wingdings"/>
              <a:buChar char=""/>
              <a:tabLst>
                <a:tab pos="355600" algn="l"/>
              </a:tabLst>
            </a:pPr>
            <a:r>
              <a:rPr dirty="0">
                <a:latin typeface="Times New Roman"/>
                <a:cs typeface="Times New Roman"/>
              </a:rPr>
              <a:t>Our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project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spread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across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multiple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tables,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combining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it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find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totals,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averages,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counts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-25" dirty="0">
                <a:latin typeface="Times New Roman"/>
                <a:cs typeface="Times New Roman"/>
              </a:rPr>
              <a:t> get</a:t>
            </a:r>
            <a:endParaRPr dirty="0">
              <a:latin typeface="Times New Roman"/>
              <a:cs typeface="Times New Roman"/>
            </a:endParaRPr>
          </a:p>
          <a:p>
            <a:pPr marL="355600" algn="just">
              <a:lnSpc>
                <a:spcPts val="2330"/>
              </a:lnSpc>
            </a:pPr>
            <a:r>
              <a:rPr dirty="0">
                <a:latin typeface="Times New Roman"/>
                <a:cs typeface="Times New Roman"/>
              </a:rPr>
              <a:t>complicated,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especially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if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joins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aren’t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done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correctly.</a:t>
            </a:r>
            <a:endParaRPr lang="en-IN" spc="-10" dirty="0">
              <a:latin typeface="Times New Roman"/>
              <a:cs typeface="Times New Roman"/>
            </a:endParaRPr>
          </a:p>
          <a:p>
            <a:pPr marL="355600" algn="just">
              <a:lnSpc>
                <a:spcPts val="2330"/>
              </a:lnSpc>
            </a:pPr>
            <a:endParaRPr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ts val="2290"/>
              </a:lnSpc>
              <a:spcBef>
                <a:spcPts val="755"/>
              </a:spcBef>
              <a:buSzPct val="90000"/>
              <a:buFont typeface="Wingdings"/>
              <a:buChar char=""/>
              <a:tabLst>
                <a:tab pos="355600" algn="l"/>
              </a:tabLst>
            </a:pPr>
            <a:r>
              <a:rPr dirty="0">
                <a:latin typeface="Times New Roman"/>
                <a:cs typeface="Times New Roman"/>
              </a:rPr>
              <a:t>It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be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challenging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figure</a:t>
            </a:r>
            <a:r>
              <a:rPr spc="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out</a:t>
            </a:r>
            <a:r>
              <a:rPr spc="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how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different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tables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connected</a:t>
            </a:r>
            <a:r>
              <a:rPr spc="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which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type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join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(INNER,</a:t>
            </a:r>
            <a:endParaRPr dirty="0">
              <a:latin typeface="Times New Roman"/>
              <a:cs typeface="Times New Roman"/>
            </a:endParaRPr>
          </a:p>
          <a:p>
            <a:pPr marL="355600" algn="just">
              <a:lnSpc>
                <a:spcPts val="2290"/>
              </a:lnSpc>
            </a:pPr>
            <a:r>
              <a:rPr dirty="0">
                <a:latin typeface="Times New Roman"/>
                <a:cs typeface="Times New Roman"/>
              </a:rPr>
              <a:t>LEFT,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RIGHT etc.)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get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accurate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results.</a:t>
            </a:r>
            <a:endParaRPr lang="en-IN" spc="-10" dirty="0">
              <a:latin typeface="Times New Roman"/>
              <a:cs typeface="Times New Roman"/>
            </a:endParaRPr>
          </a:p>
          <a:p>
            <a:pPr marL="355600" algn="just">
              <a:lnSpc>
                <a:spcPts val="2290"/>
              </a:lnSpc>
            </a:pPr>
            <a:endParaRPr dirty="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89200"/>
              </a:lnSpc>
              <a:spcBef>
                <a:spcPts val="1010"/>
              </a:spcBef>
              <a:buSzPct val="90000"/>
              <a:buFont typeface="Wingdings"/>
              <a:buChar char=""/>
              <a:tabLst>
                <a:tab pos="355600" algn="l"/>
              </a:tabLst>
            </a:pPr>
            <a:r>
              <a:rPr dirty="0">
                <a:latin typeface="Times New Roman"/>
                <a:cs typeface="Times New Roman"/>
              </a:rPr>
              <a:t>And</a:t>
            </a: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while</a:t>
            </a:r>
            <a:r>
              <a:rPr spc="2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writing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insights</a:t>
            </a:r>
            <a:r>
              <a:rPr spc="2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also</a:t>
            </a:r>
            <a:r>
              <a:rPr spc="2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many</a:t>
            </a:r>
            <a:r>
              <a:rPr spc="2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insights</a:t>
            </a:r>
            <a:r>
              <a:rPr spc="2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derived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only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when</a:t>
            </a:r>
            <a:r>
              <a:rPr spc="2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</a:t>
            </a:r>
            <a:r>
              <a:rPr spc="2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combining</a:t>
            </a: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different</a:t>
            </a:r>
            <a:r>
              <a:rPr spc="254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outcomes </a:t>
            </a:r>
            <a:r>
              <a:rPr dirty="0">
                <a:latin typeface="Times New Roman"/>
                <a:cs typeface="Times New Roman"/>
              </a:rPr>
              <a:t>from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different</a:t>
            </a:r>
            <a:r>
              <a:rPr spc="1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queries.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Some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times</a:t>
            </a:r>
            <a:r>
              <a:rPr spc="1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it</a:t>
            </a:r>
            <a:r>
              <a:rPr spc="2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felt</a:t>
            </a:r>
            <a:r>
              <a:rPr spc="1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challenging</a:t>
            </a:r>
            <a:r>
              <a:rPr spc="1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while</a:t>
            </a:r>
            <a:r>
              <a:rPr spc="20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comparing</a:t>
            </a:r>
            <a:r>
              <a:rPr spc="1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different</a:t>
            </a:r>
            <a:r>
              <a:rPr spc="1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queries</a:t>
            </a:r>
            <a:r>
              <a:rPr spc="1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outcomes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at </a:t>
            </a:r>
            <a:r>
              <a:rPr dirty="0">
                <a:latin typeface="Times New Roman"/>
                <a:cs typeface="Times New Roman"/>
              </a:rPr>
              <a:t>same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time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also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it felt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interesting.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599" y="2997200"/>
            <a:ext cx="474142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D7A7D5-CCFF-5774-51AD-FD01B1508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5969924"/>
            <a:ext cx="3338185" cy="7231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</TotalTime>
  <Words>2007</Words>
  <Application>Microsoft Office PowerPoint</Application>
  <PresentationFormat>Widescreen</PresentationFormat>
  <Paragraphs>302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Libre Baskerville</vt:lpstr>
      <vt:lpstr>Times New Roman</vt:lpstr>
      <vt:lpstr>Wingdings</vt:lpstr>
      <vt:lpstr>Office Theme</vt:lpstr>
      <vt:lpstr>GROCERY STORE MANAGEMENT</vt:lpstr>
      <vt:lpstr>About Us</vt:lpstr>
      <vt:lpstr>Agenda</vt:lpstr>
      <vt:lpstr>Introduction</vt:lpstr>
      <vt:lpstr>Objective of the Project</vt:lpstr>
      <vt:lpstr>This project includes 7 interrelated tables: </vt:lpstr>
      <vt:lpstr>ER Diagram and schema explanation</vt:lpstr>
      <vt:lpstr>ABOUT TABLES</vt:lpstr>
      <vt:lpstr>PowerPoint Presentation</vt:lpstr>
      <vt:lpstr>Customer Insights:  Gain an understanding of customer engagement and purchasing behavior.  1. How many unique customers have placed orders?</vt:lpstr>
      <vt:lpstr>2. Which customers have placed the highest number of orders?</vt:lpstr>
      <vt:lpstr>PowerPoint Presentation</vt:lpstr>
      <vt:lpstr>4. Who are the top 5 customers by total purchase amount? Query</vt:lpstr>
      <vt:lpstr>Product Performance Evaluated how well products are performing in terms of sales and revenue.  1. How many products exist in each category?</vt:lpstr>
      <vt:lpstr>2. What is the average price of products by category?</vt:lpstr>
      <vt:lpstr>3. Which products have the highest total sales volume (by quantity)?</vt:lpstr>
      <vt:lpstr>PowerPoint Presentation</vt:lpstr>
      <vt:lpstr>5. How do product sales vary by category and supplier?</vt:lpstr>
      <vt:lpstr> Sales and Order Trends:  Analyze business performance through orders and revenue over time.  1. How many orders have been placed in total?  Query</vt:lpstr>
      <vt:lpstr>2. What is the average value per order?  Query</vt:lpstr>
      <vt:lpstr>3. On which dates were the most orders placed?  Query Output</vt:lpstr>
      <vt:lpstr>PowerPoint Presentation</vt:lpstr>
      <vt:lpstr>5. How do order patterns vary across weekdays and weekends? Query</vt:lpstr>
      <vt:lpstr>Supplier Contribution: Identifying the most active and profitable suppliers.  1. How many suppliers are there in the database?  Query</vt:lpstr>
      <vt:lpstr>2. Which supplier provides the most products?  Query</vt:lpstr>
      <vt:lpstr>3. What is the average price of products from each supplier?</vt:lpstr>
      <vt:lpstr>4. Which suppliers contribute the most to total product sales (by revenue)?</vt:lpstr>
      <vt:lpstr>Employee Performance:  Assessing how employees are handling and influencing sales.  1. How many employees have processed orders?</vt:lpstr>
      <vt:lpstr>2. Which employees have handled the most orders?</vt:lpstr>
      <vt:lpstr>PowerPoint Presentation</vt:lpstr>
      <vt:lpstr>4. What is the average order value handled per employee?</vt:lpstr>
      <vt:lpstr> Order Details:  Explore item-level sales patterns and pricing behavior  1. What is the relationship between quantity ordered and total price?</vt:lpstr>
      <vt:lpstr>PowerPoint Presentation</vt:lpstr>
      <vt:lpstr>PowerPoint Presentation</vt:lpstr>
      <vt:lpstr>Key Insights and Recommendations</vt:lpstr>
      <vt:lpstr>Key Insights and Recommendations</vt:lpstr>
      <vt:lpstr>Key Insights and Recommendations</vt:lpstr>
      <vt:lpstr>Key Insights and Recommendations</vt:lpstr>
      <vt:lpstr>Key Insights and Recommendations</vt:lpstr>
      <vt:lpstr>Conclusion</vt:lpstr>
      <vt:lpstr>Challenges Faced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SHREYA JOSHI</cp:lastModifiedBy>
  <cp:revision>19</cp:revision>
  <dcterms:created xsi:type="dcterms:W3CDTF">2026-04-03T08:05:22Z</dcterms:created>
  <dcterms:modified xsi:type="dcterms:W3CDTF">2026-04-07T06:07:05Z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2025-10-19T00:00:00Z</vt:filetime>
  </property>
  <property fmtid="{D5CDD505-2E9C-101B-9397-08002B2CF9AE}" pid="3" name="LastSaved">
    <vt:filetime>2026-04-03T00:00:00Z</vt:filetime>
  </property>
</Properties>
</file>